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8" r:id="rId5"/>
    <p:sldId id="272" r:id="rId6"/>
    <p:sldId id="270" r:id="rId7"/>
    <p:sldId id="271" r:id="rId8"/>
    <p:sldId id="265" r:id="rId9"/>
    <p:sldId id="266" r:id="rId10"/>
    <p:sldId id="273" r:id="rId11"/>
    <p:sldId id="274" r:id="rId12"/>
    <p:sldId id="275" r:id="rId13"/>
    <p:sldId id="276" r:id="rId14"/>
    <p:sldId id="277" r:id="rId15"/>
    <p:sldId id="278" r:id="rId16"/>
    <p:sldId id="267" r:id="rId17"/>
    <p:sldId id="279" r:id="rId18"/>
    <p:sldId id="264" r:id="rId19"/>
    <p:sldId id="26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11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561/2200000083" TargetMode="External"/><Relationship Id="rId2" Type="http://schemas.openxmlformats.org/officeDocument/2006/relationships/hyperlink" Target="https://arxiv.org/abs/1602.05629" TargetMode="External"/><Relationship Id="rId1" Type="http://schemas.openxmlformats.org/officeDocument/2006/relationships/slideLayout" Target="../slideLayouts/slideLayout7.xml"/><Relationship Id="rId5" Type="http://schemas.openxmlformats.org/officeDocument/2006/relationships/hyperlink" Target="https://doi.org/10.1109/MCOM.001.1900831" TargetMode="External"/><Relationship Id="rId4" Type="http://schemas.openxmlformats.org/officeDocument/2006/relationships/hyperlink" Target="https://doi.org/10.1109/MNET.001.190066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t>
            </a:r>
            <a:r>
              <a:rPr lang="en-US" sz="1800" b="1">
                <a:latin typeface="Times New Roman" panose="02020603050405020304" pitchFamily="18" charset="0"/>
                <a:ea typeface="Arial Black" panose="020B0A04020102020204" pitchFamily="34" charset="0"/>
                <a:cs typeface="Times New Roman" panose="02020603050405020304" pitchFamily="18" charset="0"/>
              </a:rPr>
              <a:t>ARTIFICIAL INTELLIGENCE)</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381000" y="3887666"/>
            <a:ext cx="2286000" cy="369332"/>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Batch Details</a:t>
            </a:r>
          </a:p>
        </p:txBody>
      </p:sp>
      <p:sp>
        <p:nvSpPr>
          <p:cNvPr id="9" name="Rectangle 8"/>
          <p:cNvSpPr/>
          <p:nvPr/>
        </p:nvSpPr>
        <p:spPr>
          <a:xfrm>
            <a:off x="838200" y="2639839"/>
            <a:ext cx="8601449" cy="461665"/>
          </a:xfrm>
          <a:prstGeom prst="rect">
            <a:avLst/>
          </a:prstGeom>
        </p:spPr>
        <p:txBody>
          <a:bodyPr wrap="square">
            <a:spAutoFit/>
          </a:bodyPr>
          <a:lstStyle/>
          <a:p>
            <a:r>
              <a:rPr lang="en-US" sz="2400" dirty="0">
                <a:latin typeface="Times New Roman" pitchFamily="18" charset="0"/>
                <a:cs typeface="Times New Roman" pitchFamily="18" charset="0"/>
              </a:rPr>
              <a:t>           Project Viva-Voce Examinations   Date : 10.04.2026</a:t>
            </a:r>
            <a:endParaRPr lang="en-US" sz="2400" dirty="0"/>
          </a:p>
        </p:txBody>
      </p:sp>
      <p:sp>
        <p:nvSpPr>
          <p:cNvPr id="10" name="Rectangle 9"/>
          <p:cNvSpPr/>
          <p:nvPr/>
        </p:nvSpPr>
        <p:spPr>
          <a:xfrm>
            <a:off x="499373" y="2995962"/>
            <a:ext cx="8420548" cy="1323439"/>
          </a:xfrm>
          <a:prstGeom prst="rect">
            <a:avLst/>
          </a:prstGeom>
        </p:spPr>
        <p:txBody>
          <a:bodyPr wrap="square">
            <a:spAutoFit/>
          </a:bodyPr>
          <a:lstStyle/>
          <a:p>
            <a:r>
              <a:rPr lang="en-US" sz="2000" dirty="0">
                <a:latin typeface="Times New Roman" pitchFamily="18" charset="0"/>
                <a:cs typeface="Times New Roman" pitchFamily="18" charset="0"/>
              </a:rPr>
              <a:t>Title of Project </a:t>
            </a:r>
          </a:p>
          <a:p>
            <a:pPr marL="1528763"/>
            <a:r>
              <a:rPr lang="en-US" sz="2000" b="1" dirty="0">
                <a:latin typeface="Times New Roman" pitchFamily="18" charset="0"/>
                <a:cs typeface="Times New Roman" pitchFamily="18" charset="0"/>
              </a:rPr>
              <a:t>Towards Green and Trustworthy 6G:Federated Learning     Approaches for Robust Privacy.</a:t>
            </a:r>
            <a:endParaRPr lang="en-IN" sz="2000" dirty="0"/>
          </a:p>
          <a:p>
            <a:endParaRPr lang="en-US" sz="2000" dirty="0"/>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833638355"/>
              </p:ext>
            </p:extLst>
          </p:nvPr>
        </p:nvGraphicFramePr>
        <p:xfrm>
          <a:off x="556747" y="4380419"/>
          <a:ext cx="8305801" cy="2115297"/>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81212">
                  <a:extLst>
                    <a:ext uri="{9D8B030D-6E8A-4147-A177-3AD203B41FA5}">
                      <a16:colId xmlns:a16="http://schemas.microsoft.com/office/drawing/2014/main" val="2541411041"/>
                    </a:ext>
                  </a:extLst>
                </a:gridCol>
                <a:gridCol w="2590801">
                  <a:extLst>
                    <a:ext uri="{9D8B030D-6E8A-4147-A177-3AD203B41FA5}">
                      <a16:colId xmlns:a16="http://schemas.microsoft.com/office/drawing/2014/main" val="247963892"/>
                    </a:ext>
                  </a:extLst>
                </a:gridCol>
              </a:tblGrid>
              <a:tr h="382653">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pPr algn="ctr"/>
                      <a:r>
                        <a:rPr lang="en-US" b="1" dirty="0">
                          <a:latin typeface="Times New Roman" panose="02020603050405020304" pitchFamily="18" charset="0"/>
                          <a:cs typeface="Times New Roman" panose="02020603050405020304" pitchFamily="18" charset="0"/>
                        </a:rPr>
                        <a:t>1</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22F61A3114</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C S MADESH</a:t>
                      </a:r>
                      <a:endParaRPr lang="en-IN" b="1" dirty="0">
                        <a:latin typeface="Times New Roman" panose="02020603050405020304" pitchFamily="18" charset="0"/>
                        <a:cs typeface="Times New Roman" panose="02020603050405020304" pitchFamily="18" charset="0"/>
                      </a:endParaRPr>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Times New Roman" panose="02020603050405020304" pitchFamily="18" charset="0"/>
                          <a:cs typeface="Times New Roman" panose="02020603050405020304" pitchFamily="18" charset="0"/>
                        </a:rPr>
                        <a:t>K EZHILARASI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M.Tech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Assistant Professor</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2826067"/>
                  </a:ext>
                </a:extLst>
              </a:tr>
              <a:tr h="433161">
                <a:tc>
                  <a:txBody>
                    <a:bodyPr/>
                    <a:lstStyle/>
                    <a:p>
                      <a:pPr algn="ctr"/>
                      <a:r>
                        <a:rPr lang="en-US" b="1" dirty="0">
                          <a:latin typeface="Times New Roman" panose="02020603050405020304" pitchFamily="18" charset="0"/>
                          <a:cs typeface="Times New Roman" panose="02020603050405020304" pitchFamily="18" charset="0"/>
                        </a:rPr>
                        <a:t>2</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22F61A3119</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 MOUNIKA</a:t>
                      </a:r>
                      <a:endParaRPr lang="en-IN"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extLst>
                  <a:ext uri="{0D108BD9-81ED-4DB2-BD59-A6C34878D82A}">
                    <a16:rowId xmlns:a16="http://schemas.microsoft.com/office/drawing/2014/main" val="873735473"/>
                  </a:ext>
                </a:extLst>
              </a:tr>
              <a:tr h="433161">
                <a:tc>
                  <a:txBody>
                    <a:bodyPr/>
                    <a:lstStyle/>
                    <a:p>
                      <a:pPr algn="ctr"/>
                      <a:r>
                        <a:rPr lang="en-US" b="1" dirty="0">
                          <a:latin typeface="Times New Roman" panose="02020603050405020304" pitchFamily="18" charset="0"/>
                          <a:cs typeface="Times New Roman" panose="02020603050405020304" pitchFamily="18" charset="0"/>
                        </a:rPr>
                        <a:t>3</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23F65A3101</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K ADIMURTHY</a:t>
                      </a:r>
                      <a:endParaRPr lang="en-IN"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pPr algn="ctr"/>
                      <a:r>
                        <a:rPr lang="en-US" b="1" dirty="0">
                          <a:latin typeface="Times New Roman" panose="02020603050405020304" pitchFamily="18" charset="0"/>
                          <a:cs typeface="Times New Roman" panose="02020603050405020304" pitchFamily="18" charset="0"/>
                        </a:rPr>
                        <a:t>4</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23F65A3106</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T VIJENDRA</a:t>
                      </a:r>
                      <a:endParaRPr lang="en-IN"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6605"/>
            <a:ext cx="8229600" cy="1143000"/>
          </a:xfrm>
        </p:spPr>
        <p:txBody>
          <a:bodyPr/>
          <a:lstStyle/>
          <a:p>
            <a:r>
              <a:rPr lang="en-US" dirty="0">
                <a:latin typeface="Times New Roman" pitchFamily="18" charset="0"/>
                <a:cs typeface="Times New Roman" pitchFamily="18" charset="0"/>
              </a:rPr>
              <a:t>OBJECTIVE</a:t>
            </a:r>
          </a:p>
        </p:txBody>
      </p:sp>
      <p:sp>
        <p:nvSpPr>
          <p:cNvPr id="3" name="Rectangle 2"/>
          <p:cNvSpPr/>
          <p:nvPr/>
        </p:nvSpPr>
        <p:spPr>
          <a:xfrm>
            <a:off x="533400" y="1289605"/>
            <a:ext cx="8077200" cy="5293757"/>
          </a:xfrm>
          <a:prstGeom prst="rect">
            <a:avLst/>
          </a:prstGeom>
        </p:spPr>
        <p:txBody>
          <a:bodyPr wrap="square">
            <a:spAutoFit/>
          </a:bodyPr>
          <a:lstStyle/>
          <a:p>
            <a:pPr marL="273050" lvl="0" indent="-273050" algn="just">
              <a:spcBef>
                <a:spcPct val="0"/>
              </a:spcBef>
              <a:spcAft>
                <a:spcPts val="600"/>
              </a:spcAft>
              <a:defRPr/>
            </a:pPr>
            <a:r>
              <a:rPr lang="en-US" dirty="0">
                <a:latin typeface="Times New Roman" pitchFamily="18" charset="0"/>
                <a:cs typeface="Times New Roman" pitchFamily="18" charset="0"/>
              </a:rPr>
              <a:t>1. This project aims to build a privacy-focused machine learning system for future        6G networks.</a:t>
            </a:r>
          </a:p>
          <a:p>
            <a:pPr marL="273050" indent="-273050" algn="just">
              <a:spcAft>
                <a:spcPts val="600"/>
              </a:spcAft>
            </a:pPr>
            <a:r>
              <a:rPr lang="en-US" dirty="0">
                <a:latin typeface="Times New Roman" pitchFamily="18" charset="0"/>
                <a:cs typeface="Times New Roman" pitchFamily="18" charset="0"/>
              </a:rPr>
              <a:t>2. Instead of collecting all data in one place, it uses Federated Learning (FL), where  multiple devices train a model together without sharing their raw data. This helps in:</a:t>
            </a:r>
          </a:p>
          <a:p>
            <a:pPr indent="273050" algn="just">
              <a:spcAft>
                <a:spcPts val="600"/>
              </a:spcAft>
            </a:pPr>
            <a:r>
              <a:rPr lang="en-US" dirty="0">
                <a:latin typeface="Times New Roman" pitchFamily="18" charset="0"/>
                <a:cs typeface="Times New Roman" pitchFamily="18" charset="0"/>
              </a:rPr>
              <a:t>&gt; Protecting user privacy </a:t>
            </a:r>
          </a:p>
          <a:p>
            <a:pPr indent="273050" algn="just">
              <a:spcAft>
                <a:spcPts val="600"/>
              </a:spcAft>
            </a:pPr>
            <a:r>
              <a:rPr lang="en-US" dirty="0">
                <a:latin typeface="Times New Roman" pitchFamily="18" charset="0"/>
                <a:cs typeface="Times New Roman" pitchFamily="18" charset="0"/>
              </a:rPr>
              <a:t>&gt; Reducing network traffic</a:t>
            </a:r>
          </a:p>
          <a:p>
            <a:pPr algn="just">
              <a:spcAft>
                <a:spcPts val="600"/>
              </a:spcAft>
            </a:pPr>
            <a:r>
              <a:rPr lang="en-US" dirty="0">
                <a:latin typeface="Times New Roman" pitchFamily="18" charset="0"/>
                <a:cs typeface="Times New Roman" pitchFamily="18" charset="0"/>
              </a:rPr>
              <a:t>3. A Flask-based web application is developed where users can:</a:t>
            </a:r>
          </a:p>
          <a:p>
            <a:pPr marL="176213" algn="just">
              <a:spcAft>
                <a:spcPts val="600"/>
              </a:spcAft>
            </a:pPr>
            <a:r>
              <a:rPr lang="en-US" dirty="0">
                <a:latin typeface="Times New Roman" pitchFamily="18" charset="0"/>
                <a:cs typeface="Times New Roman" pitchFamily="18" charset="0"/>
              </a:rPr>
              <a:t>&gt; Register and log in </a:t>
            </a:r>
          </a:p>
          <a:p>
            <a:pPr indent="176213" algn="just">
              <a:spcAft>
                <a:spcPts val="600"/>
              </a:spcAft>
            </a:pPr>
            <a:r>
              <a:rPr lang="en-US" dirty="0">
                <a:latin typeface="Times New Roman" pitchFamily="18" charset="0"/>
                <a:cs typeface="Times New Roman" pitchFamily="18" charset="0"/>
              </a:rPr>
              <a:t>&gt; Upload beamforming datasets </a:t>
            </a:r>
          </a:p>
          <a:p>
            <a:pPr indent="176213" algn="just">
              <a:spcAft>
                <a:spcPts val="600"/>
              </a:spcAft>
            </a:pPr>
            <a:r>
              <a:rPr lang="en-US" dirty="0">
                <a:latin typeface="Times New Roman" pitchFamily="18" charset="0"/>
                <a:cs typeface="Times New Roman" pitchFamily="18" charset="0"/>
              </a:rPr>
              <a:t>&gt; Choose machine learning algorithms </a:t>
            </a:r>
          </a:p>
          <a:p>
            <a:pPr indent="176213" algn="just">
              <a:spcAft>
                <a:spcPts val="600"/>
              </a:spcAft>
            </a:pPr>
            <a:r>
              <a:rPr lang="en-US" dirty="0">
                <a:latin typeface="Times New Roman" pitchFamily="18" charset="0"/>
                <a:cs typeface="Times New Roman" pitchFamily="18" charset="0"/>
              </a:rPr>
              <a:t>&gt; Get real-time predictions </a:t>
            </a:r>
          </a:p>
          <a:p>
            <a:pPr marL="176213" indent="-176213" algn="just">
              <a:spcAft>
                <a:spcPts val="600"/>
              </a:spcAft>
              <a:tabLst>
                <a:tab pos="273050" algn="l"/>
              </a:tabLst>
            </a:pPr>
            <a:r>
              <a:rPr lang="en-US" dirty="0">
                <a:latin typeface="Times New Roman" pitchFamily="18" charset="0"/>
                <a:cs typeface="Times New Roman" pitchFamily="18" charset="0"/>
              </a:rPr>
              <a:t>4. The system works by simulating FL training rounds, where model updates from          different devices are securely combined (averaged) to improve performance.</a:t>
            </a:r>
          </a:p>
          <a:p>
            <a:pPr marL="176213" lvl="0" indent="-176213" algn="just">
              <a:spcBef>
                <a:spcPct val="0"/>
              </a:spcBef>
              <a:spcAft>
                <a:spcPts val="600"/>
              </a:spcAft>
              <a:defRPr/>
            </a:pPr>
            <a:r>
              <a:rPr lang="en-US" dirty="0">
                <a:latin typeface="Times New Roman" pitchFamily="18" charset="0"/>
                <a:cs typeface="Times New Roman" pitchFamily="18" charset="0"/>
              </a:rPr>
              <a:t>5.Overall, the project shows how Federated Learning can efficiently support                   intelligent and secure systems in 6G networks.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3" name="TextBox 2">
            <a:extLst>
              <a:ext uri="{FF2B5EF4-FFF2-40B4-BE49-F238E27FC236}">
                <a16:creationId xmlns:a16="http://schemas.microsoft.com/office/drawing/2014/main" id="{4FE3D44C-2005-EF80-FDD5-FE5298BA8A1E}"/>
              </a:ext>
            </a:extLst>
          </p:cNvPr>
          <p:cNvSpPr txBox="1"/>
          <p:nvPr/>
        </p:nvSpPr>
        <p:spPr>
          <a:xfrm>
            <a:off x="381000" y="1219200"/>
            <a:ext cx="8229600" cy="5078313"/>
          </a:xfrm>
          <a:prstGeom prst="rect">
            <a:avLst/>
          </a:prstGeom>
          <a:noFill/>
        </p:spPr>
        <p:txBody>
          <a:bodyPr wrap="square" rtlCol="0">
            <a:spAutoFit/>
          </a:bodyPr>
          <a:lstStyle/>
          <a:p>
            <a:pPr marL="176213" indent="-176213"/>
            <a:r>
              <a:rPr lang="en-US" dirty="0"/>
              <a:t>1</a:t>
            </a:r>
            <a:r>
              <a:rPr lang="en-US" dirty="0">
                <a:latin typeface="Times New Roman" panose="02020603050405020304" pitchFamily="18" charset="0"/>
                <a:cs typeface="Times New Roman" panose="02020603050405020304" pitchFamily="18" charset="0"/>
              </a:rPr>
              <a:t>. 6G technology will connect billions of smart devices and provide very fast communication (low latency) for advanced applications like autonomous vehicles and holograms.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Traditional AI systems rely on sending data to the cloud, which:</a:t>
            </a:r>
          </a:p>
          <a:p>
            <a:pPr indent="176213"/>
            <a:r>
              <a:rPr lang="en-US" dirty="0">
                <a:latin typeface="Times New Roman" panose="02020603050405020304" pitchFamily="18" charset="0"/>
                <a:cs typeface="Times New Roman" panose="02020603050405020304" pitchFamily="18" charset="0"/>
              </a:rPr>
              <a:t>&gt; Overloads the network </a:t>
            </a:r>
          </a:p>
          <a:p>
            <a:pPr marL="176213"/>
            <a:r>
              <a:rPr lang="en-US" dirty="0">
                <a:latin typeface="Times New Roman" panose="02020603050405020304" pitchFamily="18" charset="0"/>
                <a:cs typeface="Times New Roman" panose="02020603050405020304" pitchFamily="18" charset="0"/>
              </a:rPr>
              <a:t>&gt; Risks user privacy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To solve this, this project uses Federated Learning (FL), where:</a:t>
            </a:r>
          </a:p>
          <a:p>
            <a:pPr marL="176213"/>
            <a:r>
              <a:rPr lang="en-US" dirty="0">
                <a:latin typeface="Times New Roman" panose="02020603050405020304" pitchFamily="18" charset="0"/>
                <a:cs typeface="Times New Roman" panose="02020603050405020304" pitchFamily="18" charset="0"/>
              </a:rPr>
              <a:t>Devices train models locally </a:t>
            </a:r>
          </a:p>
          <a:p>
            <a:pPr marL="176213"/>
            <a:r>
              <a:rPr lang="en-US" dirty="0">
                <a:latin typeface="Times New Roman" panose="02020603050405020304" pitchFamily="18" charset="0"/>
                <a:cs typeface="Times New Roman" panose="02020603050405020304" pitchFamily="18" charset="0"/>
              </a:rPr>
              <a:t>Only encrypted updates are shared with a central server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4. A Flask-based web application is developed where users can:</a:t>
            </a:r>
          </a:p>
          <a:p>
            <a:pPr marL="176213"/>
            <a:r>
              <a:rPr lang="en-US" dirty="0">
                <a:latin typeface="Times New Roman" panose="02020603050405020304" pitchFamily="18" charset="0"/>
                <a:cs typeface="Times New Roman" panose="02020603050405020304" pitchFamily="18" charset="0"/>
              </a:rPr>
              <a:t>&gt; Register and log in </a:t>
            </a:r>
          </a:p>
          <a:p>
            <a:pPr marL="176213"/>
            <a:r>
              <a:rPr lang="en-US" dirty="0">
                <a:latin typeface="Times New Roman" panose="02020603050405020304" pitchFamily="18" charset="0"/>
                <a:cs typeface="Times New Roman" panose="02020603050405020304" pitchFamily="18" charset="0"/>
              </a:rPr>
              <a:t>&gt; Upload beamforming datasets </a:t>
            </a:r>
          </a:p>
          <a:p>
            <a:pPr marL="176213"/>
            <a:r>
              <a:rPr lang="en-US" dirty="0">
                <a:latin typeface="Times New Roman" panose="02020603050405020304" pitchFamily="18" charset="0"/>
                <a:cs typeface="Times New Roman" panose="02020603050405020304" pitchFamily="18" charset="0"/>
              </a:rPr>
              <a:t>&gt; Select algorithms like Random Forest, CNN, MLP, etc. </a:t>
            </a:r>
          </a:p>
          <a:p>
            <a:pPr indent="176213"/>
            <a:r>
              <a:rPr lang="en-US" dirty="0">
                <a:latin typeface="Times New Roman" panose="02020603050405020304" pitchFamily="18" charset="0"/>
                <a:cs typeface="Times New Roman" panose="02020603050405020304" pitchFamily="18" charset="0"/>
              </a:rPr>
              <a:t>&gt; Get real-time prediction results</a:t>
            </a:r>
          </a:p>
          <a:p>
            <a:pPr marL="342900" indent="-342900">
              <a:buFont typeface="+mj-lt"/>
              <a:buAutoNum type="arabicPeriod"/>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REVIEW</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graphicFrame>
        <p:nvGraphicFramePr>
          <p:cNvPr id="4" name="Table 3">
            <a:extLst>
              <a:ext uri="{FF2B5EF4-FFF2-40B4-BE49-F238E27FC236}">
                <a16:creationId xmlns:a16="http://schemas.microsoft.com/office/drawing/2014/main" id="{90A6F975-4187-838D-03BA-B2F60BC0F451}"/>
              </a:ext>
            </a:extLst>
          </p:cNvPr>
          <p:cNvGraphicFramePr>
            <a:graphicFrameLocks noGrp="1"/>
          </p:cNvGraphicFramePr>
          <p:nvPr>
            <p:extLst>
              <p:ext uri="{D42A27DB-BD31-4B8C-83A1-F6EECF244321}">
                <p14:modId xmlns:p14="http://schemas.microsoft.com/office/powerpoint/2010/main" val="2888144569"/>
              </p:ext>
            </p:extLst>
          </p:nvPr>
        </p:nvGraphicFramePr>
        <p:xfrm>
          <a:off x="228600" y="1299186"/>
          <a:ext cx="8686800" cy="5257799"/>
        </p:xfrm>
        <a:graphic>
          <a:graphicData uri="http://schemas.openxmlformats.org/drawingml/2006/table">
            <a:tbl>
              <a:tblPr firstRow="1" bandRow="1">
                <a:tableStyleId>{5C22544A-7EE6-4342-B048-85BDC9FD1C3A}</a:tableStyleId>
              </a:tblPr>
              <a:tblGrid>
                <a:gridCol w="2171700">
                  <a:extLst>
                    <a:ext uri="{9D8B030D-6E8A-4147-A177-3AD203B41FA5}">
                      <a16:colId xmlns:a16="http://schemas.microsoft.com/office/drawing/2014/main" val="384034375"/>
                    </a:ext>
                  </a:extLst>
                </a:gridCol>
                <a:gridCol w="1638300">
                  <a:extLst>
                    <a:ext uri="{9D8B030D-6E8A-4147-A177-3AD203B41FA5}">
                      <a16:colId xmlns:a16="http://schemas.microsoft.com/office/drawing/2014/main" val="3078727712"/>
                    </a:ext>
                  </a:extLst>
                </a:gridCol>
                <a:gridCol w="1371600">
                  <a:extLst>
                    <a:ext uri="{9D8B030D-6E8A-4147-A177-3AD203B41FA5}">
                      <a16:colId xmlns:a16="http://schemas.microsoft.com/office/drawing/2014/main" val="156089452"/>
                    </a:ext>
                  </a:extLst>
                </a:gridCol>
                <a:gridCol w="3505200">
                  <a:extLst>
                    <a:ext uri="{9D8B030D-6E8A-4147-A177-3AD203B41FA5}">
                      <a16:colId xmlns:a16="http://schemas.microsoft.com/office/drawing/2014/main" val="4003648865"/>
                    </a:ext>
                  </a:extLst>
                </a:gridCol>
              </a:tblGrid>
              <a:tr h="328525">
                <a:tc>
                  <a:txBody>
                    <a:bodyPr/>
                    <a:lstStyle/>
                    <a:p>
                      <a:pPr algn="ctr"/>
                      <a:r>
                        <a:rPr lang="en-US" sz="2000" dirty="0">
                          <a:latin typeface="Times New Roman" pitchFamily="18" charset="0"/>
                          <a:cs typeface="Times New Roman" pitchFamily="18" charset="0"/>
                        </a:rPr>
                        <a:t>Title of the Paper</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Authors</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Year</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Implications</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2716147072"/>
                  </a:ext>
                </a:extLst>
              </a:tr>
              <a:tr h="10040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Blockchain empowered Federated Learning for 6G.</a:t>
                      </a:r>
                    </a:p>
                    <a:p>
                      <a:pPr algn="just"/>
                      <a:endParaRPr lang="en-IN" sz="2000" dirty="0">
                        <a:latin typeface="Times New Roman" pitchFamily="18" charset="0"/>
                        <a:cs typeface="Times New Roman"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Xu et al.</a:t>
                      </a:r>
                    </a:p>
                    <a:p>
                      <a:pPr algn="just"/>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2023</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Combine FL with blockchain for traceability and trust in 6G; emphasizes audit trails and secure updates.</a:t>
                      </a:r>
                    </a:p>
                    <a:p>
                      <a:pPr algn="just"/>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3493981229"/>
                  </a:ext>
                </a:extLst>
              </a:tr>
              <a:tr h="13715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Federated Learning for Edge Intelligence in 6G Networks.</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Yang et al.</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2022</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Overview of enabling FL in 6G, covers latency, non-IID issues, and model convergence</a:t>
                      </a:r>
                      <a:r>
                        <a:rPr lang="en-IN" sz="2000" dirty="0">
                          <a:latin typeface="Times New Roman" pitchFamily="18" charset="0"/>
                          <a:cs typeface="Times New Roman" pitchFamily="18" charset="0"/>
                        </a:rPr>
                        <a:t>.</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92491273"/>
                  </a:ext>
                </a:extLst>
              </a:tr>
              <a:tr h="1630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Federated Learning in 6G: A Survey on Enabling Technologies.</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Luong et al.</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In-depth survey on FL challenges and architectures in 6G ecosystems.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9231010"/>
                  </a:ext>
                </a:extLst>
              </a:tr>
            </a:tbl>
          </a:graphicData>
        </a:graphic>
      </p:graphicFrame>
    </p:spTree>
    <p:extLst>
      <p:ext uri="{BB962C8B-B14F-4D97-AF65-F5344CB8AC3E}">
        <p14:creationId xmlns:p14="http://schemas.microsoft.com/office/powerpoint/2010/main" val="1146185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517E08-0339-F3F6-4820-B9D4FD501C0F}"/>
              </a:ext>
            </a:extLst>
          </p:cNvPr>
          <p:cNvGraphicFramePr>
            <a:graphicFrameLocks noGrp="1"/>
          </p:cNvGraphicFramePr>
          <p:nvPr>
            <p:extLst>
              <p:ext uri="{D42A27DB-BD31-4B8C-83A1-F6EECF244321}">
                <p14:modId xmlns:p14="http://schemas.microsoft.com/office/powerpoint/2010/main" val="1382234512"/>
              </p:ext>
            </p:extLst>
          </p:nvPr>
        </p:nvGraphicFramePr>
        <p:xfrm>
          <a:off x="381000" y="533400"/>
          <a:ext cx="8382000" cy="6156960"/>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2262531717"/>
                    </a:ext>
                  </a:extLst>
                </a:gridCol>
                <a:gridCol w="1733550">
                  <a:extLst>
                    <a:ext uri="{9D8B030D-6E8A-4147-A177-3AD203B41FA5}">
                      <a16:colId xmlns:a16="http://schemas.microsoft.com/office/drawing/2014/main" val="2906762526"/>
                    </a:ext>
                  </a:extLst>
                </a:gridCol>
                <a:gridCol w="998621">
                  <a:extLst>
                    <a:ext uri="{9D8B030D-6E8A-4147-A177-3AD203B41FA5}">
                      <a16:colId xmlns:a16="http://schemas.microsoft.com/office/drawing/2014/main" val="4156574045"/>
                    </a:ext>
                  </a:extLst>
                </a:gridCol>
                <a:gridCol w="3573379">
                  <a:extLst>
                    <a:ext uri="{9D8B030D-6E8A-4147-A177-3AD203B41FA5}">
                      <a16:colId xmlns:a16="http://schemas.microsoft.com/office/drawing/2014/main" val="2845263486"/>
                    </a:ext>
                  </a:extLst>
                </a:gridCol>
              </a:tblGrid>
              <a:tr h="366816">
                <a:tc>
                  <a:txBody>
                    <a:bodyPr/>
                    <a:lstStyle/>
                    <a:p>
                      <a:pPr algn="ctr"/>
                      <a:r>
                        <a:rPr lang="en-US" sz="2000">
                          <a:latin typeface="Times New Roman" pitchFamily="18" charset="0"/>
                          <a:cs typeface="Times New Roman" pitchFamily="18" charset="0"/>
                        </a:rPr>
                        <a:t>Title of the Paper</a:t>
                      </a:r>
                      <a:endParaRPr lang="en-IN" sz="2000" dirty="0">
                        <a:latin typeface="Times New Roman" pitchFamily="18" charset="0"/>
                        <a:cs typeface="Times New Roman" pitchFamily="18" charset="0"/>
                      </a:endParaRPr>
                    </a:p>
                  </a:txBody>
                  <a:tcPr/>
                </a:tc>
                <a:tc>
                  <a:txBody>
                    <a:bodyPr/>
                    <a:lstStyle/>
                    <a:p>
                      <a:pPr algn="ctr"/>
                      <a:r>
                        <a:rPr lang="en-US" sz="2000">
                          <a:latin typeface="Times New Roman" pitchFamily="18" charset="0"/>
                          <a:cs typeface="Times New Roman" pitchFamily="18" charset="0"/>
                        </a:rPr>
                        <a:t>Authors</a:t>
                      </a:r>
                      <a:endParaRPr lang="en-IN" sz="2000" dirty="0">
                        <a:latin typeface="Times New Roman" pitchFamily="18" charset="0"/>
                        <a:cs typeface="Times New Roman" pitchFamily="18" charset="0"/>
                      </a:endParaRPr>
                    </a:p>
                  </a:txBody>
                  <a:tcPr/>
                </a:tc>
                <a:tc>
                  <a:txBody>
                    <a:bodyPr/>
                    <a:lstStyle/>
                    <a:p>
                      <a:pPr algn="ctr"/>
                      <a:r>
                        <a:rPr lang="en-US" sz="2000">
                          <a:latin typeface="Times New Roman" pitchFamily="18" charset="0"/>
                          <a:cs typeface="Times New Roman" pitchFamily="18" charset="0"/>
                        </a:rPr>
                        <a:t>Year</a:t>
                      </a:r>
                      <a:endParaRPr lang="en-IN" sz="2000" dirty="0">
                        <a:latin typeface="Times New Roman" pitchFamily="18" charset="0"/>
                        <a:cs typeface="Times New Roman" pitchFamily="18" charset="0"/>
                      </a:endParaRPr>
                    </a:p>
                  </a:txBody>
                  <a:tcPr/>
                </a:tc>
                <a:tc>
                  <a:txBody>
                    <a:bodyPr/>
                    <a:lstStyle/>
                    <a:p>
                      <a:pPr algn="ctr"/>
                      <a:r>
                        <a:rPr lang="en-US" sz="2000">
                          <a:latin typeface="Times New Roman" pitchFamily="18" charset="0"/>
                          <a:cs typeface="Times New Roman" pitchFamily="18" charset="0"/>
                        </a:rPr>
                        <a:t>Implications</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3384339088"/>
                  </a:ext>
                </a:extLst>
              </a:tr>
              <a:tr h="2059814">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7313" algn="l"/>
                        </a:tabLst>
                        <a:defRPr/>
                      </a:pPr>
                      <a:r>
                        <a:rPr lang="en-US" sz="2000">
                          <a:latin typeface="Times New Roman" panose="02020603050405020304" pitchFamily="18" charset="0"/>
                          <a:cs typeface="Times New Roman" panose="02020603050405020304" pitchFamily="18" charset="0"/>
                        </a:rPr>
                        <a:t>Adaptive Federated Learning in Resource Constrained Edge Systems.</a:t>
                      </a:r>
                    </a:p>
                    <a:p>
                      <a:pPr algn="just"/>
                      <a:endParaRPr lang="en-IN" sz="2000" dirty="0">
                        <a:latin typeface="Times New Roman" pitchFamily="18" charset="0"/>
                        <a:cs typeface="Times New Roman"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Wang et al.</a:t>
                      </a:r>
                    </a:p>
                    <a:p>
                      <a:pPr algn="just"/>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latin typeface="Times New Roman" panose="02020603050405020304" pitchFamily="18" charset="0"/>
                          <a:cs typeface="Times New Roman" panose="02020603050405020304" pitchFamily="18" charset="0"/>
                        </a:rPr>
                        <a:t>Proposes adaptive scheduling strategies to handle client heterogeneity and stragglers</a:t>
                      </a:r>
                    </a:p>
                    <a:p>
                      <a:pPr algn="just"/>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660978406"/>
                  </a:ext>
                </a:extLst>
              </a:tr>
              <a:tr h="1099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Times New Roman" panose="02020603050405020304" pitchFamily="18" charset="0"/>
                          <a:cs typeface="Times New Roman" panose="02020603050405020304" pitchFamily="18" charset="0"/>
                        </a:rPr>
                        <a:t>Practical Secure Aggregation for Privacy-Preserving ML.</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Bonawitz et al.</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Times New Roman" panose="02020603050405020304" pitchFamily="18" charset="0"/>
                          <a:cs typeface="Times New Roman" panose="02020603050405020304" pitchFamily="18" charset="0"/>
                        </a:rPr>
                        <a:t>Introduces secure aggregation protocols enabling privacy-preserving global model updates.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2955860"/>
                  </a:ext>
                </a:extLst>
              </a:tr>
              <a:tr h="17776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Times New Roman" panose="02020603050405020304" pitchFamily="18" charset="0"/>
                          <a:cs typeface="Times New Roman" panose="02020603050405020304" pitchFamily="18" charset="0"/>
                        </a:rPr>
                        <a:t>Federated Learning for Edge Intelligence: Applications and Challenges</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Zhang et 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Highlights edge-based FL deployment, communication savings, and scalability.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71343808"/>
                  </a:ext>
                </a:extLst>
              </a:tr>
            </a:tbl>
          </a:graphicData>
        </a:graphic>
      </p:graphicFrame>
    </p:spTree>
    <p:extLst>
      <p:ext uri="{BB962C8B-B14F-4D97-AF65-F5344CB8AC3E}">
        <p14:creationId xmlns:p14="http://schemas.microsoft.com/office/powerpoint/2010/main" val="3018894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EXISTING SYSTEM</a:t>
            </a: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C3FF6194-66AE-54EA-7930-C6A07EE3D19D}"/>
              </a:ext>
            </a:extLst>
          </p:cNvPr>
          <p:cNvSpPr txBox="1"/>
          <p:nvPr/>
        </p:nvSpPr>
        <p:spPr>
          <a:xfrm>
            <a:off x="342900" y="1305341"/>
            <a:ext cx="8458200" cy="5632311"/>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Limitations of Traditional AI Systems (6G)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centralized cloud-based training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Devices send raw data to central servers continuously </a:t>
            </a:r>
          </a:p>
          <a:p>
            <a:pPr algn="just">
              <a:buNone/>
            </a:pPr>
            <a:r>
              <a:rPr lang="en-US" b="1" dirty="0">
                <a:latin typeface="Times New Roman" panose="02020603050405020304" pitchFamily="18" charset="0"/>
                <a:cs typeface="Times New Roman" panose="02020603050405020304" pitchFamily="18" charset="0"/>
              </a:rPr>
              <a:t>Major Problems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Network congestion: </a:t>
            </a:r>
            <a:r>
              <a:rPr lang="en-US" dirty="0">
                <a:latin typeface="Times New Roman" panose="02020603050405020304" pitchFamily="18" charset="0"/>
                <a:cs typeface="Times New Roman" panose="02020603050405020304" pitchFamily="18" charset="0"/>
              </a:rPr>
              <a:t>Massive real-time data overloads backhaul links </a:t>
            </a:r>
          </a:p>
          <a:p>
            <a:pPr marL="87313" indent="-87313"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 latency: </a:t>
            </a:r>
            <a:r>
              <a:rPr lang="en-US" dirty="0">
                <a:latin typeface="Times New Roman" panose="02020603050405020304" pitchFamily="18" charset="0"/>
                <a:cs typeface="Times New Roman" panose="02020603050405020304" pitchFamily="18" charset="0"/>
              </a:rPr>
              <a:t>Delays make it unsuitable for real-time applications (autonomous driving, AR/VR)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Privacy risks</a:t>
            </a:r>
            <a:r>
              <a:rPr lang="en-US" dirty="0">
                <a:latin typeface="Times New Roman" panose="02020603050405020304" pitchFamily="18" charset="0"/>
                <a:cs typeface="Times New Roman" panose="02020603050405020304" pitchFamily="18" charset="0"/>
              </a:rPr>
              <a:t>: Sensitive user data is exposed during transmission and storage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Not scalable: </a:t>
            </a:r>
            <a:r>
              <a:rPr lang="en-US" dirty="0">
                <a:latin typeface="Times New Roman" panose="02020603050405020304" pitchFamily="18" charset="0"/>
                <a:cs typeface="Times New Roman" panose="02020603050405020304" pitchFamily="18" charset="0"/>
              </a:rPr>
              <a:t>Cannot efficiently support billions of 6G edge devices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 personalization: </a:t>
            </a:r>
            <a:r>
              <a:rPr lang="en-US" dirty="0">
                <a:latin typeface="Times New Roman" panose="02020603050405020304" pitchFamily="18" charset="0"/>
                <a:cs typeface="Times New Roman" panose="02020603050405020304" pitchFamily="18" charset="0"/>
              </a:rPr>
              <a:t>Models are generic and not adapted to local device data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 energy consumption: </a:t>
            </a:r>
            <a:r>
              <a:rPr lang="en-US" dirty="0">
                <a:latin typeface="Times New Roman" panose="02020603050405020304" pitchFamily="18" charset="0"/>
                <a:cs typeface="Times New Roman" panose="02020603050405020304" pitchFamily="18" charset="0"/>
              </a:rPr>
              <a:t>Continuous data transmission drains device and network resources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Security vulnerabilities: </a:t>
            </a:r>
            <a:r>
              <a:rPr lang="en-US" dirty="0">
                <a:latin typeface="Times New Roman" panose="02020603050405020304" pitchFamily="18" charset="0"/>
                <a:cs typeface="Times New Roman" panose="02020603050405020304" pitchFamily="18" charset="0"/>
              </a:rPr>
              <a:t>Prone to attacks like data leakage, model poisoning, and reconstruction attacks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Single point of failure: </a:t>
            </a:r>
            <a:r>
              <a:rPr lang="en-US" dirty="0">
                <a:latin typeface="Times New Roman" panose="02020603050405020304" pitchFamily="18" charset="0"/>
                <a:cs typeface="Times New Roman" panose="02020603050405020304" pitchFamily="18" charset="0"/>
              </a:rPr>
              <a:t>Central server failure affects the entire system</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AI systems are inefficient, insecure, and not suitable for scalable 6G environments, highlighting the need for decentralized approaches like Federated Learning.</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464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SYSTEM</a:t>
            </a: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3" name="TextBox 2">
            <a:extLst>
              <a:ext uri="{FF2B5EF4-FFF2-40B4-BE49-F238E27FC236}">
                <a16:creationId xmlns:a16="http://schemas.microsoft.com/office/drawing/2014/main" id="{279922EE-319C-4112-0DB3-7E29510C340B}"/>
              </a:ext>
            </a:extLst>
          </p:cNvPr>
          <p:cNvSpPr txBox="1"/>
          <p:nvPr/>
        </p:nvSpPr>
        <p:spPr>
          <a:xfrm>
            <a:off x="457200" y="1143000"/>
            <a:ext cx="8229600" cy="535531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Overview</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Federated Learning (FL) for 6G networks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Devices train on local private data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Share only encrypted updates (no raw data)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Server combines updates → Global model </a:t>
            </a:r>
          </a:p>
          <a:p>
            <a:r>
              <a:rPr lang="en-IN" b="1" dirty="0">
                <a:latin typeface="Times New Roman" panose="02020603050405020304" pitchFamily="18" charset="0"/>
                <a:cs typeface="Times New Roman" panose="02020603050405020304" pitchFamily="18" charset="0"/>
              </a:rPr>
              <a:t>Application (Flask Web App)</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login &amp; registration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Upload beamforming datasets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Choose ML models (RF, CNN, MLP, etc.)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Get real-time predictions </a:t>
            </a:r>
          </a:p>
          <a:p>
            <a:r>
              <a:rPr lang="en-IN" b="1" dirty="0">
                <a:latin typeface="Times New Roman" panose="02020603050405020304" pitchFamily="18" charset="0"/>
                <a:cs typeface="Times New Roman" panose="02020603050405020304" pitchFamily="18" charset="0"/>
              </a:rPr>
              <a:t>Performance &amp; Benefits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 accuracy (up to 100%)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Privacy protection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Less latency &amp; bandwidth usage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against attacks </a:t>
            </a:r>
          </a:p>
          <a:p>
            <a:r>
              <a:rPr lang="en-IN" b="1" dirty="0">
                <a:latin typeface="Times New Roman" panose="02020603050405020304" pitchFamily="18" charset="0"/>
                <a:cs typeface="Times New Roman" panose="02020603050405020304" pitchFamily="18" charset="0"/>
              </a:rPr>
              <a:t>Challenges &amp; Future Scope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Handles: Non-IID data, slow devices, attacks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Differential Privacy, Secure Aggregation, Blockchain</a:t>
            </a:r>
          </a:p>
          <a:p>
            <a:endParaRPr lang="en-IN" dirty="0"/>
          </a:p>
        </p:txBody>
      </p:sp>
      <p:pic>
        <p:nvPicPr>
          <p:cNvPr id="5" name="Picture 4">
            <a:extLst>
              <a:ext uri="{FF2B5EF4-FFF2-40B4-BE49-F238E27FC236}">
                <a16:creationId xmlns:a16="http://schemas.microsoft.com/office/drawing/2014/main" id="{BA1CD3A0-A2BF-0428-7999-B6854F8E83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8200" y="2667000"/>
            <a:ext cx="4229100" cy="2819400"/>
          </a:xfrm>
          <a:prstGeom prst="rect">
            <a:avLst/>
          </a:prstGeom>
        </p:spPr>
      </p:pic>
    </p:spTree>
    <p:extLst>
      <p:ext uri="{BB962C8B-B14F-4D97-AF65-F5344CB8AC3E}">
        <p14:creationId xmlns:p14="http://schemas.microsoft.com/office/powerpoint/2010/main" val="945062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ARCHITECTURE DIAGRAM</a:t>
            </a:r>
          </a:p>
        </p:txBody>
      </p:sp>
      <p:pic>
        <p:nvPicPr>
          <p:cNvPr id="3" name="Picture 2" descr="A screenshot of a computer&#10;&#10;AI-generated content may be incorrect.">
            <a:extLst>
              <a:ext uri="{FF2B5EF4-FFF2-40B4-BE49-F238E27FC236}">
                <a16:creationId xmlns:a16="http://schemas.microsoft.com/office/drawing/2014/main" id="{6B6B4C27-910D-F922-CBC9-7C159696E3AE}"/>
              </a:ext>
            </a:extLst>
          </p:cNvPr>
          <p:cNvPicPr>
            <a:picLocks noChangeAspect="1"/>
          </p:cNvPicPr>
          <p:nvPr/>
        </p:nvPicPr>
        <p:blipFill>
          <a:blip r:embed="rId2">
            <a:extLst>
              <a:ext uri="{28A0092B-C50C-407E-A947-70E740481C1C}">
                <a14:useLocalDpi xmlns:a14="http://schemas.microsoft.com/office/drawing/2010/main" val="0"/>
              </a:ext>
            </a:extLst>
          </a:blip>
          <a:srcRect b="7692"/>
          <a:stretch>
            <a:fillRect/>
          </a:stretch>
        </p:blipFill>
        <p:spPr>
          <a:xfrm>
            <a:off x="800100" y="1143000"/>
            <a:ext cx="7543800" cy="5562600"/>
          </a:xfrm>
          <a:prstGeom prst="rect">
            <a:avLst/>
          </a:prstGeom>
        </p:spPr>
      </p:pic>
    </p:spTree>
    <p:extLst>
      <p:ext uri="{BB962C8B-B14F-4D97-AF65-F5344CB8AC3E}">
        <p14:creationId xmlns:p14="http://schemas.microsoft.com/office/powerpoint/2010/main" val="1925675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MODULES</a:t>
            </a:r>
          </a:p>
        </p:txBody>
      </p:sp>
      <p:sp>
        <p:nvSpPr>
          <p:cNvPr id="4" name="TextBox 3">
            <a:extLst>
              <a:ext uri="{FF2B5EF4-FFF2-40B4-BE49-F238E27FC236}">
                <a16:creationId xmlns:a16="http://schemas.microsoft.com/office/drawing/2014/main" id="{9E07F632-C8BB-7F44-CFF2-832D3771C8CF}"/>
              </a:ext>
            </a:extLst>
          </p:cNvPr>
          <p:cNvSpPr txBox="1"/>
          <p:nvPr/>
        </p:nvSpPr>
        <p:spPr>
          <a:xfrm>
            <a:off x="457200" y="1143000"/>
            <a:ext cx="8229600" cy="923330"/>
          </a:xfrm>
          <a:prstGeom prst="rect">
            <a:avLst/>
          </a:prstGeom>
          <a:noFill/>
        </p:spPr>
        <p:txBody>
          <a:bodyPr wrap="square">
            <a:spAutoFit/>
          </a:bodyPr>
          <a:lstStyle/>
          <a:p>
            <a:pPr algn="just"/>
            <a:r>
              <a:rPr lang="en-IN" b="1" dirty="0">
                <a:latin typeface="Times New Roman" panose="02020603050405020304" pitchFamily="18" charset="0"/>
                <a:ea typeface="Calibri" panose="020F0502020204030204" pitchFamily="34" charset="0"/>
                <a:cs typeface="Times New Roman" panose="02020603050405020304" pitchFamily="18" charset="0"/>
              </a:rPr>
              <a:t>HOME PAGE:</a:t>
            </a:r>
            <a:r>
              <a:rPr lang="en-US" dirty="0">
                <a:latin typeface="Times New Roman" panose="02020603050405020304" pitchFamily="18" charset="0"/>
                <a:cs typeface="Times New Roman" panose="02020603050405020304" pitchFamily="18" charset="0"/>
              </a:rPr>
              <a:t>The Home Page serves as the landing page of your application. </a:t>
            </a:r>
          </a:p>
          <a:p>
            <a:pPr algn="just"/>
            <a:r>
              <a:rPr lang="en-US" dirty="0">
                <a:latin typeface="Times New Roman" panose="02020603050405020304" pitchFamily="18" charset="0"/>
                <a:cs typeface="Times New Roman" panose="02020603050405020304" pitchFamily="18" charset="0"/>
              </a:rPr>
              <a:t>It provides an overview of the project's features, objectives, and benefits</a:t>
            </a:r>
            <a:r>
              <a:rPr lang="en-US" dirty="0"/>
              <a:t>. </a:t>
            </a:r>
            <a:r>
              <a:rPr lang="en-US" dirty="0">
                <a:latin typeface="Times New Roman" panose="02020603050405020304" pitchFamily="18" charset="0"/>
                <a:cs typeface="Times New Roman" panose="02020603050405020304" pitchFamily="18" charset="0"/>
              </a:rPr>
              <a:t>Users can navigate to other sections of the application from this page.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C85F7E-EA64-C08A-6E4A-DB3E05B94882}"/>
              </a:ext>
            </a:extLst>
          </p:cNvPr>
          <p:cNvPicPr/>
          <p:nvPr/>
        </p:nvPicPr>
        <p:blipFill>
          <a:blip r:embed="rId2"/>
          <a:stretch>
            <a:fillRect/>
          </a:stretch>
        </p:blipFill>
        <p:spPr>
          <a:xfrm>
            <a:off x="781050" y="2155055"/>
            <a:ext cx="7581900" cy="4428307"/>
          </a:xfrm>
          <a:prstGeom prst="rect">
            <a:avLst/>
          </a:prstGeom>
        </p:spPr>
      </p:pic>
    </p:spTree>
    <p:extLst>
      <p:ext uri="{BB962C8B-B14F-4D97-AF65-F5344CB8AC3E}">
        <p14:creationId xmlns:p14="http://schemas.microsoft.com/office/powerpoint/2010/main" val="3168030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841873-E389-E04A-8DEE-6BB531FE4321}"/>
              </a:ext>
            </a:extLst>
          </p:cNvPr>
          <p:cNvSpPr txBox="1"/>
          <p:nvPr/>
        </p:nvSpPr>
        <p:spPr>
          <a:xfrm>
            <a:off x="304800" y="762000"/>
            <a:ext cx="8382000" cy="1200329"/>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REGISTRATION PAGE:</a:t>
            </a:r>
            <a:r>
              <a:rPr lang="en-US" sz="1800" dirty="0">
                <a:latin typeface="Times New Roman" panose="02020603050405020304" pitchFamily="18" charset="0"/>
                <a:cs typeface="Times New Roman" panose="02020603050405020304" pitchFamily="18" charset="0"/>
              </a:rPr>
              <a:t> The Registration Page allows new users to create an account with the application. It typically includes fields for entering personal information such as name, </a:t>
            </a:r>
            <a:r>
              <a:rPr lang="en-US" sz="1800" dirty="0" err="1">
                <a:latin typeface="Times New Roman" panose="02020603050405020304" pitchFamily="18" charset="0"/>
                <a:cs typeface="Times New Roman" panose="02020603050405020304" pitchFamily="18" charset="0"/>
              </a:rPr>
              <a:t>email,</a:t>
            </a:r>
            <a:r>
              <a:rPr lang="en-US" dirty="0" err="1">
                <a:latin typeface="Times New Roman" panose="02020603050405020304" pitchFamily="18" charset="0"/>
                <a:cs typeface="Times New Roman" panose="02020603050405020304" pitchFamily="18" charset="0"/>
              </a:rPr>
              <a:t>password</a:t>
            </a:r>
            <a:r>
              <a:rPr lang="en-US" dirty="0">
                <a:latin typeface="Times New Roman" panose="02020603050405020304" pitchFamily="18" charset="0"/>
                <a:cs typeface="Times New Roman" panose="02020603050405020304" pitchFamily="18" charset="0"/>
              </a:rPr>
              <a:t>, and possibly other details like phone number or address. Users need to fill out this form to gain access to the application's features.</a:t>
            </a:r>
            <a:endParaRPr lang="en-IN" dirty="0"/>
          </a:p>
        </p:txBody>
      </p:sp>
      <p:pic>
        <p:nvPicPr>
          <p:cNvPr id="4" name="Picture 3">
            <a:extLst>
              <a:ext uri="{FF2B5EF4-FFF2-40B4-BE49-F238E27FC236}">
                <a16:creationId xmlns:a16="http://schemas.microsoft.com/office/drawing/2014/main" id="{1F779FEA-1FA8-9CFC-0BD7-28CFEFCB11C9}"/>
              </a:ext>
            </a:extLst>
          </p:cNvPr>
          <p:cNvPicPr/>
          <p:nvPr/>
        </p:nvPicPr>
        <p:blipFill>
          <a:blip r:embed="rId2"/>
          <a:stretch>
            <a:fillRect/>
          </a:stretch>
        </p:blipFill>
        <p:spPr>
          <a:xfrm>
            <a:off x="731361" y="2057400"/>
            <a:ext cx="7681278" cy="4419600"/>
          </a:xfrm>
          <a:prstGeom prst="rect">
            <a:avLst/>
          </a:prstGeom>
        </p:spPr>
      </p:pic>
    </p:spTree>
    <p:extLst>
      <p:ext uri="{BB962C8B-B14F-4D97-AF65-F5344CB8AC3E}">
        <p14:creationId xmlns:p14="http://schemas.microsoft.com/office/powerpoint/2010/main" val="2536659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8A07E5-6A6E-3D29-E1DB-F8D375AAFB0A}"/>
              </a:ext>
            </a:extLst>
          </p:cNvPr>
          <p:cNvSpPr txBox="1"/>
          <p:nvPr/>
        </p:nvSpPr>
        <p:spPr>
          <a:xfrm>
            <a:off x="381000" y="685801"/>
            <a:ext cx="8382000" cy="878895"/>
          </a:xfrm>
          <a:prstGeom prst="rect">
            <a:avLst/>
          </a:prstGeom>
          <a:noFill/>
        </p:spPr>
        <p:txBody>
          <a:bodyPr wrap="square">
            <a:spAutoFit/>
          </a:bodyPr>
          <a:lstStyle/>
          <a:p>
            <a:pPr algn="just">
              <a:lnSpc>
                <a:spcPct val="150000"/>
              </a:lnSpc>
              <a:spcAft>
                <a:spcPts val="750"/>
              </a:spcAft>
            </a:pPr>
            <a:r>
              <a:rPr lang="en-IN" sz="1800" b="1" dirty="0">
                <a:latin typeface="Times New Roman" panose="02020603050405020304" pitchFamily="18" charset="0"/>
                <a:ea typeface="Calibri" panose="020F0502020204030204" pitchFamily="34" charset="0"/>
                <a:cs typeface="Times New Roman" panose="02020603050405020304" pitchFamily="18" charset="0"/>
              </a:rPr>
              <a:t>LOGIN: </a:t>
            </a:r>
            <a:r>
              <a:rPr lang="en-US" sz="1800" dirty="0">
                <a:latin typeface="Times New Roman" panose="02020603050405020304" pitchFamily="18" charset="0"/>
                <a:ea typeface="Calibri" panose="020F0502020204030204" pitchFamily="34" charset="0"/>
                <a:cs typeface="Times New Roman" panose="02020603050405020304" pitchFamily="18" charset="0"/>
              </a:rPr>
              <a:t>The login page allows registered users to securely access the application. User have to provide register email and password.</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F4580961-9B4F-AD66-F0D6-602711A676F3}"/>
              </a:ext>
            </a:extLst>
          </p:cNvPr>
          <p:cNvPicPr/>
          <p:nvPr/>
        </p:nvPicPr>
        <p:blipFill>
          <a:blip r:embed="rId2"/>
          <a:stretch>
            <a:fillRect/>
          </a:stretch>
        </p:blipFill>
        <p:spPr>
          <a:xfrm>
            <a:off x="647700" y="1752600"/>
            <a:ext cx="7848600" cy="4572000"/>
          </a:xfrm>
          <a:prstGeom prst="rect">
            <a:avLst/>
          </a:prstGeom>
        </p:spPr>
      </p:pic>
    </p:spTree>
    <p:extLst>
      <p:ext uri="{BB962C8B-B14F-4D97-AF65-F5344CB8AC3E}">
        <p14:creationId xmlns:p14="http://schemas.microsoft.com/office/powerpoint/2010/main" val="2524570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21F645-B747-40EC-C45B-0567173A1DD8}"/>
              </a:ext>
            </a:extLst>
          </p:cNvPr>
          <p:cNvSpPr txBox="1"/>
          <p:nvPr/>
        </p:nvSpPr>
        <p:spPr>
          <a:xfrm>
            <a:off x="335280" y="457200"/>
            <a:ext cx="4572000" cy="458074"/>
          </a:xfrm>
          <a:prstGeom prst="rect">
            <a:avLst/>
          </a:prstGeom>
          <a:noFill/>
        </p:spPr>
        <p:txBody>
          <a:bodyPr wrap="square">
            <a:spAutoFit/>
          </a:bodyPr>
          <a:lstStyle/>
          <a:p>
            <a:pPr>
              <a:lnSpc>
                <a:spcPct val="150000"/>
              </a:lnSpc>
              <a:spcAft>
                <a:spcPts val="750"/>
              </a:spcAft>
            </a:pPr>
            <a:r>
              <a:rPr lang="en-US" sz="1800" b="1" dirty="0">
                <a:latin typeface="Times New Roman" panose="02020603050405020304" pitchFamily="18" charset="0"/>
                <a:ea typeface="Calibri" panose="020F0502020204030204" pitchFamily="34" charset="0"/>
                <a:cs typeface="Times New Roman" panose="02020603050405020304" pitchFamily="18" charset="0"/>
              </a:rPr>
              <a:t>HOME PAGE AFTER LOGIN</a:t>
            </a:r>
            <a:endParaRPr lang="en-IN" sz="18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FDF6309-DDA4-5C70-4619-671565AEE926}"/>
              </a:ext>
            </a:extLst>
          </p:cNvPr>
          <p:cNvPicPr/>
          <p:nvPr/>
        </p:nvPicPr>
        <p:blipFill>
          <a:blip r:embed="rId2"/>
          <a:stretch>
            <a:fillRect/>
          </a:stretch>
        </p:blipFill>
        <p:spPr>
          <a:xfrm>
            <a:off x="400050" y="1295400"/>
            <a:ext cx="8343900" cy="4495800"/>
          </a:xfrm>
          <a:prstGeom prst="rect">
            <a:avLst/>
          </a:prstGeom>
        </p:spPr>
      </p:pic>
    </p:spTree>
    <p:extLst>
      <p:ext uri="{BB962C8B-B14F-4D97-AF65-F5344CB8AC3E}">
        <p14:creationId xmlns:p14="http://schemas.microsoft.com/office/powerpoint/2010/main" val="248260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94056D-CC37-9AD8-2C02-40F460280DCA}"/>
              </a:ext>
            </a:extLst>
          </p:cNvPr>
          <p:cNvSpPr txBox="1"/>
          <p:nvPr/>
        </p:nvSpPr>
        <p:spPr>
          <a:xfrm>
            <a:off x="304800" y="914400"/>
            <a:ext cx="8458200" cy="458074"/>
          </a:xfrm>
          <a:prstGeom prst="rect">
            <a:avLst/>
          </a:prstGeom>
          <a:noFill/>
        </p:spPr>
        <p:txBody>
          <a:bodyPr wrap="square">
            <a:spAutoFit/>
          </a:bodyPr>
          <a:lstStyle/>
          <a:p>
            <a:pPr>
              <a:lnSpc>
                <a:spcPct val="150000"/>
              </a:lnSpc>
              <a:spcAft>
                <a:spcPts val="1000"/>
              </a:spcAft>
            </a:pPr>
            <a:r>
              <a:rPr lang="en-IN" sz="1800" b="1" dirty="0">
                <a:latin typeface="Times New Roman" panose="02020603050405020304" pitchFamily="18" charset="0"/>
                <a:ea typeface="Calibri" panose="020F0502020204030204" pitchFamily="34" charset="0"/>
                <a:cs typeface="Times New Roman" panose="02020603050405020304" pitchFamily="18" charset="0"/>
              </a:rPr>
              <a:t>UPLOAD PAGE: </a:t>
            </a:r>
            <a:r>
              <a:rPr lang="en-IN" sz="1800" dirty="0">
                <a:latin typeface="Times New Roman" panose="02020603050405020304" pitchFamily="18" charset="0"/>
                <a:cs typeface="Times New Roman" panose="02020603050405020304" pitchFamily="18" charset="0"/>
              </a:rPr>
              <a:t>Here you can upload the dataset and view the dataset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9AC08F15-AAD2-1EE2-1BAB-789251B6CDEB}"/>
              </a:ext>
            </a:extLst>
          </p:cNvPr>
          <p:cNvPicPr/>
          <p:nvPr/>
        </p:nvPicPr>
        <p:blipFill>
          <a:blip r:embed="rId2"/>
          <a:stretch>
            <a:fillRect/>
          </a:stretch>
        </p:blipFill>
        <p:spPr>
          <a:xfrm>
            <a:off x="762000" y="1828800"/>
            <a:ext cx="7620000" cy="4267200"/>
          </a:xfrm>
          <a:prstGeom prst="rect">
            <a:avLst/>
          </a:prstGeom>
        </p:spPr>
      </p:pic>
    </p:spTree>
    <p:extLst>
      <p:ext uri="{BB962C8B-B14F-4D97-AF65-F5344CB8AC3E}">
        <p14:creationId xmlns:p14="http://schemas.microsoft.com/office/powerpoint/2010/main" val="276331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444395-18A2-7DFB-352F-6EFB776297EC}"/>
              </a:ext>
            </a:extLst>
          </p:cNvPr>
          <p:cNvSpPr txBox="1"/>
          <p:nvPr/>
        </p:nvSpPr>
        <p:spPr>
          <a:xfrm>
            <a:off x="228600" y="914400"/>
            <a:ext cx="8686800" cy="646331"/>
          </a:xfrm>
          <a:prstGeom prst="rect">
            <a:avLst/>
          </a:prstGeom>
          <a:noFill/>
        </p:spPr>
        <p:txBody>
          <a:bodyPr wrap="square">
            <a:spAutoFit/>
          </a:bodyPr>
          <a:lstStyle/>
          <a:p>
            <a:pPr algn="just" defTabSz="685800" eaLnBrk="0" fontAlgn="base" hangingPunct="0">
              <a:spcBef>
                <a:spcPct val="0"/>
              </a:spcBef>
              <a:spcAft>
                <a:spcPct val="0"/>
              </a:spcAft>
              <a:buClrTx/>
            </a:pP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Here user have to select the model and email, password view the accuracy so that we know which algorithm is giving the highest accuracy.</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9DC8E9D-C24A-86EF-E47B-A27CB8803EBC}"/>
              </a:ext>
            </a:extLst>
          </p:cNvPr>
          <p:cNvPicPr/>
          <p:nvPr/>
        </p:nvPicPr>
        <p:blipFill>
          <a:blip r:embed="rId2"/>
          <a:stretch>
            <a:fillRect/>
          </a:stretch>
        </p:blipFill>
        <p:spPr>
          <a:xfrm>
            <a:off x="838200" y="1905000"/>
            <a:ext cx="7315200" cy="4267200"/>
          </a:xfrm>
          <a:prstGeom prst="rect">
            <a:avLst/>
          </a:prstGeom>
        </p:spPr>
      </p:pic>
    </p:spTree>
    <p:extLst>
      <p:ext uri="{BB962C8B-B14F-4D97-AF65-F5344CB8AC3E}">
        <p14:creationId xmlns:p14="http://schemas.microsoft.com/office/powerpoint/2010/main" val="62647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B78F5C-CAEC-B238-4C51-6DDA8CCFC42E}"/>
              </a:ext>
            </a:extLst>
          </p:cNvPr>
          <p:cNvSpPr txBox="1"/>
          <p:nvPr/>
        </p:nvSpPr>
        <p:spPr>
          <a:xfrm>
            <a:off x="228600" y="685800"/>
            <a:ext cx="8686800" cy="878895"/>
          </a:xfrm>
          <a:prstGeom prst="rect">
            <a:avLst/>
          </a:prstGeom>
          <a:noFill/>
        </p:spPr>
        <p:txBody>
          <a:bodyPr wrap="square">
            <a:spAutoFit/>
          </a:bodyPr>
          <a:lstStyle/>
          <a:p>
            <a:pPr algn="just">
              <a:lnSpc>
                <a:spcPct val="150000"/>
              </a:lnSpc>
              <a:spcAft>
                <a:spcPts val="600"/>
              </a:spcAft>
            </a:pPr>
            <a:r>
              <a:rPr lang="en-US" sz="1800" b="1" dirty="0">
                <a:latin typeface="Times New Roman" panose="02020603050405020304" pitchFamily="18" charset="0"/>
                <a:ea typeface="Calibri" panose="020F0502020204030204" pitchFamily="34" charset="0"/>
                <a:cs typeface="Times New Roman" panose="02020603050405020304" pitchFamily="18" charset="0"/>
              </a:rPr>
              <a:t>PREDICTION PAGE:</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latin typeface="Times New Roman" panose="02020603050405020304" pitchFamily="18" charset="0"/>
                <a:ea typeface="Calibri" panose="020F0502020204030204" pitchFamily="34" charset="0"/>
              </a:rPr>
              <a:t>This is the prediction page here user have to provide values of a 20 features and our model is predict the final output.</a:t>
            </a:r>
            <a:endParaRPr lang="en-IN" sz="18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AF0E2A9-14E6-0EF1-2427-C125EB39F150}"/>
              </a:ext>
            </a:extLst>
          </p:cNvPr>
          <p:cNvPicPr/>
          <p:nvPr/>
        </p:nvPicPr>
        <p:blipFill>
          <a:blip r:embed="rId2"/>
          <a:stretch>
            <a:fillRect/>
          </a:stretch>
        </p:blipFill>
        <p:spPr>
          <a:xfrm>
            <a:off x="762000" y="1981200"/>
            <a:ext cx="7734300" cy="4495800"/>
          </a:xfrm>
          <a:prstGeom prst="rect">
            <a:avLst/>
          </a:prstGeom>
        </p:spPr>
      </p:pic>
    </p:spTree>
    <p:extLst>
      <p:ext uri="{BB962C8B-B14F-4D97-AF65-F5344CB8AC3E}">
        <p14:creationId xmlns:p14="http://schemas.microsoft.com/office/powerpoint/2010/main" val="215037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RESULT EVALUATION</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PREDICTION OUTCOME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classified beamforming results as Success or Failure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Evaluation performed under simulated federated learning rounds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raw data shared; only model parameters aggregated</a:t>
            </a:r>
          </a:p>
          <a:p>
            <a:pPr>
              <a:buNone/>
            </a:pPr>
            <a:r>
              <a:rPr lang="en-IN" dirty="0">
                <a:latin typeface="Times New Roman" panose="02020603050405020304" pitchFamily="18" charset="0"/>
                <a:cs typeface="Times New Roman" panose="02020603050405020304" pitchFamily="18" charset="0"/>
              </a:rPr>
              <a:t>Performance Results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Decision Tree, Random Forest, </a:t>
            </a:r>
            <a:r>
              <a:rPr lang="en-IN" dirty="0" err="1">
                <a:latin typeface="Times New Roman" panose="02020603050405020304" pitchFamily="18" charset="0"/>
                <a:cs typeface="Times New Roman" panose="02020603050405020304" pitchFamily="18" charset="0"/>
              </a:rPr>
              <a:t>XGBoost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100% accuracy in predicting Success/Failure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FNN, CNN, MLP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High accuracy with minor misclassification</a:t>
            </a:r>
          </a:p>
          <a:p>
            <a:pPr>
              <a:buNone/>
            </a:pPr>
            <a:r>
              <a:rPr lang="en-IN" dirty="0">
                <a:latin typeface="Times New Roman" panose="02020603050405020304" pitchFamily="18" charset="0"/>
                <a:cs typeface="Times New Roman" panose="02020603050405020304" pitchFamily="18" charset="0"/>
              </a:rPr>
              <a:t>Confusion Matrix Insight</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Tree-based models showed:</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Zero false positives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Zero false negatives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Indicates perfect beamforming decision reliability</a:t>
            </a:r>
          </a:p>
          <a:p>
            <a:pPr>
              <a:buNone/>
            </a:pPr>
            <a:r>
              <a:rPr lang="en-IN" b="1" dirty="0">
                <a:latin typeface="Times New Roman" panose="02020603050405020304" pitchFamily="18" charset="0"/>
                <a:cs typeface="Times New Roman" panose="02020603050405020304" pitchFamily="18" charset="0"/>
              </a:rPr>
              <a:t>Federated Learning Impact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Preserved data privacy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Reduced communication overhead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Maintained centralized-model-level accuracy</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pic>
        <p:nvPicPr>
          <p:cNvPr id="3" name="Picture 2" descr="A diagram of a graph&#10;&#10;AI-generated content may be incorrect.">
            <a:extLst>
              <a:ext uri="{FF2B5EF4-FFF2-40B4-BE49-F238E27FC236}">
                <a16:creationId xmlns:a16="http://schemas.microsoft.com/office/drawing/2014/main" id="{7D82CB24-941F-9878-3EA1-38DD358D8CA4}"/>
              </a:ext>
            </a:extLst>
          </p:cNvPr>
          <p:cNvPicPr>
            <a:picLocks noChangeAspect="1"/>
          </p:cNvPicPr>
          <p:nvPr/>
        </p:nvPicPr>
        <p:blipFill>
          <a:blip r:embed="rId2" cstate="print">
            <a:extLst>
              <a:ext uri="{28A0092B-C50C-407E-A947-70E740481C1C}">
                <a14:useLocalDpi xmlns:a14="http://schemas.microsoft.com/office/drawing/2010/main" val="0"/>
              </a:ext>
            </a:extLst>
          </a:blip>
          <a:srcRect l="434" t="4833" r="4282" b="10602"/>
          <a:stretch>
            <a:fillRect/>
          </a:stretch>
        </p:blipFill>
        <p:spPr>
          <a:xfrm>
            <a:off x="5410200" y="2590800"/>
            <a:ext cx="3581400" cy="2327716"/>
          </a:xfrm>
          <a:prstGeom prst="rect">
            <a:avLst/>
          </a:prstGeom>
        </p:spPr>
      </p:pic>
    </p:spTree>
    <p:extLst>
      <p:ext uri="{BB962C8B-B14F-4D97-AF65-F5344CB8AC3E}">
        <p14:creationId xmlns:p14="http://schemas.microsoft.com/office/powerpoint/2010/main" val="2410163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48629D-E792-D80D-6015-A61ADC33E926}"/>
              </a:ext>
            </a:extLst>
          </p:cNvPr>
          <p:cNvSpPr txBox="1"/>
          <p:nvPr/>
        </p:nvSpPr>
        <p:spPr>
          <a:xfrm>
            <a:off x="228600" y="899691"/>
            <a:ext cx="849065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RESULT PAGE</a:t>
            </a:r>
            <a:r>
              <a:rPr lang="en-US" dirty="0">
                <a:latin typeface="Times New Roman" panose="02020603050405020304" pitchFamily="18" charset="0"/>
                <a:cs typeface="Times New Roman" panose="02020603050405020304" pitchFamily="18" charset="0"/>
              </a:rPr>
              <a:t> :After prediction show whether the beamforming will success or failure.</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523701C-378E-2F71-D1F0-26FEB3BA3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85" y="1695669"/>
            <a:ext cx="8481230" cy="4628931"/>
          </a:xfrm>
          <a:prstGeom prst="rect">
            <a:avLst/>
          </a:prstGeom>
        </p:spPr>
      </p:pic>
    </p:spTree>
    <p:extLst>
      <p:ext uri="{BB962C8B-B14F-4D97-AF65-F5344CB8AC3E}">
        <p14:creationId xmlns:p14="http://schemas.microsoft.com/office/powerpoint/2010/main" val="573294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sp>
        <p:nvSpPr>
          <p:cNvPr id="4" name="TextBox 3">
            <a:extLst>
              <a:ext uri="{FF2B5EF4-FFF2-40B4-BE49-F238E27FC236}">
                <a16:creationId xmlns:a16="http://schemas.microsoft.com/office/drawing/2014/main" id="{8F105CF7-46A8-8024-E91B-1C686F71C5BE}"/>
              </a:ext>
            </a:extLst>
          </p:cNvPr>
          <p:cNvSpPr txBox="1"/>
          <p:nvPr/>
        </p:nvSpPr>
        <p:spPr>
          <a:xfrm>
            <a:off x="228600" y="1066800"/>
            <a:ext cx="8610600" cy="669055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proposes a privacy-preserving federated learning framework to predict 6G beamforming success or failure. Traditional cloud-based ML systems face latency, scalability, and privacy issues, making them unsuitable for future 6G applications like autonomous mobility and holographic communication.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Our system uses Federated Learning, where edge devices train models locally and share only model parameters, ensuring data privacy. The framework is implemented using Python Flask with features such as secure authentication, dataset upload, model selection, and real-time prediction.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Six ML models are supported: Random Forest,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FNN, CNN, MLP, and Decision Tree.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Tree-based models achieved 100% accuracy in simulations, proving their effectiveness for beamforming classification</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REFERENCES</a:t>
            </a:r>
          </a:p>
        </p:txBody>
      </p:sp>
      <p:sp>
        <p:nvSpPr>
          <p:cNvPr id="4" name="TextBox 3">
            <a:extLst>
              <a:ext uri="{FF2B5EF4-FFF2-40B4-BE49-F238E27FC236}">
                <a16:creationId xmlns:a16="http://schemas.microsoft.com/office/drawing/2014/main" id="{3582AFB5-1877-18BE-B310-1105A96B54C2}"/>
              </a:ext>
            </a:extLst>
          </p:cNvPr>
          <p:cNvSpPr txBox="1"/>
          <p:nvPr/>
        </p:nvSpPr>
        <p:spPr>
          <a:xfrm>
            <a:off x="228600" y="1295400"/>
            <a:ext cx="8686800" cy="4524315"/>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McMahan, B., Moore, E., Ramage, D., Hampson, S., &amp; y </a:t>
            </a:r>
            <a:r>
              <a:rPr lang="en-IN" dirty="0" err="1">
                <a:latin typeface="Times New Roman" panose="02020603050405020304" pitchFamily="18" charset="0"/>
                <a:cs typeface="Times New Roman" panose="02020603050405020304" pitchFamily="18" charset="0"/>
              </a:rPr>
              <a:t>Arcas</a:t>
            </a:r>
            <a:r>
              <a:rPr lang="en-IN" dirty="0">
                <a:latin typeface="Times New Roman" panose="02020603050405020304" pitchFamily="18" charset="0"/>
                <a:cs typeface="Times New Roman" panose="02020603050405020304" pitchFamily="18" charset="0"/>
              </a:rPr>
              <a:t>, B. A. (2017). </a:t>
            </a:r>
            <a:r>
              <a:rPr lang="en-IN" i="1" dirty="0">
                <a:latin typeface="Times New Roman" panose="02020603050405020304" pitchFamily="18" charset="0"/>
                <a:cs typeface="Times New Roman" panose="02020603050405020304" pitchFamily="18" charset="0"/>
              </a:rPr>
              <a:t>Communication-Efficient Learning of Deep Networks from Decentralized Data</a:t>
            </a:r>
            <a:r>
              <a:rPr lang="en-IN" dirty="0">
                <a:latin typeface="Times New Roman" panose="02020603050405020304" pitchFamily="18" charset="0"/>
                <a:cs typeface="Times New Roman" panose="02020603050405020304" pitchFamily="18" charset="0"/>
              </a:rPr>
              <a:t>. Proceedings of the 20th International Conference on Artificial Intelligence and Statistics (AISTATS), PMLR. </a:t>
            </a:r>
            <a:r>
              <a:rPr lang="en-IN" u="sng" dirty="0">
                <a:latin typeface="Times New Roman" panose="02020603050405020304" pitchFamily="18" charset="0"/>
                <a:cs typeface="Times New Roman" panose="02020603050405020304" pitchFamily="18" charset="0"/>
                <a:hlinkClick r:id="rId2"/>
              </a:rPr>
              <a:t>https://arxiv.org/abs/1602.05629</a:t>
            </a:r>
            <a:endParaRPr lang="en-IN" dirty="0">
              <a:latin typeface="Times New Roman" panose="02020603050405020304" pitchFamily="18" charset="0"/>
              <a:cs typeface="Times New Roman" panose="02020603050405020304" pitchFamily="18" charset="0"/>
            </a:endParaRPr>
          </a:p>
          <a:p>
            <a:pPr algn="just"/>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Kairouz</a:t>
            </a:r>
            <a:r>
              <a:rPr lang="en-IN" dirty="0">
                <a:latin typeface="Times New Roman" panose="02020603050405020304" pitchFamily="18" charset="0"/>
                <a:cs typeface="Times New Roman" panose="02020603050405020304" pitchFamily="18" charset="0"/>
              </a:rPr>
              <a:t>, P., McMahan, H. B., et al. (2021). </a:t>
            </a:r>
            <a:r>
              <a:rPr lang="en-IN" i="1" dirty="0">
                <a:latin typeface="Times New Roman" panose="02020603050405020304" pitchFamily="18" charset="0"/>
                <a:cs typeface="Times New Roman" panose="02020603050405020304" pitchFamily="18" charset="0"/>
              </a:rPr>
              <a:t>Advances and Open Problems in Federated Learning</a:t>
            </a:r>
            <a:r>
              <a:rPr lang="en-IN" dirty="0">
                <a:latin typeface="Times New Roman" panose="02020603050405020304" pitchFamily="18" charset="0"/>
                <a:cs typeface="Times New Roman" panose="02020603050405020304" pitchFamily="18" charset="0"/>
              </a:rPr>
              <a:t>. Foundations and Trends in Machine Learning, 14(1–2), 1–210. </a:t>
            </a:r>
            <a:r>
              <a:rPr lang="en-IN" u="sng" dirty="0">
                <a:latin typeface="Times New Roman" panose="02020603050405020304" pitchFamily="18" charset="0"/>
                <a:cs typeface="Times New Roman" panose="02020603050405020304" pitchFamily="18" charset="0"/>
                <a:hlinkClick r:id="rId3"/>
              </a:rPr>
              <a:t>https://doi.org/10.1561/2200000083</a:t>
            </a:r>
            <a:endParaRPr lang="en-IN" dirty="0">
              <a:latin typeface="Times New Roman" panose="02020603050405020304" pitchFamily="18" charset="0"/>
              <a:cs typeface="Times New Roman" panose="02020603050405020304" pitchFamily="18" charset="0"/>
            </a:endParaRPr>
          </a:p>
          <a:p>
            <a:pPr algn="just"/>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Zhu, H., Liu, Y., Zhou, Z., &amp; Zhang, Y. (2020). </a:t>
            </a:r>
            <a:r>
              <a:rPr lang="en-IN" i="1" dirty="0">
                <a:latin typeface="Times New Roman" panose="02020603050405020304" pitchFamily="18" charset="0"/>
                <a:cs typeface="Times New Roman" panose="02020603050405020304" pitchFamily="18" charset="0"/>
              </a:rPr>
              <a:t>Toward Efficient and Privacy-Preserving Federated Deep Learning</a:t>
            </a:r>
            <a:r>
              <a:rPr lang="en-IN" dirty="0">
                <a:latin typeface="Times New Roman" panose="02020603050405020304" pitchFamily="18" charset="0"/>
                <a:cs typeface="Times New Roman" panose="02020603050405020304" pitchFamily="18" charset="0"/>
              </a:rPr>
              <a:t>. IEEE Network, 34(5), 16–22. </a:t>
            </a:r>
            <a:r>
              <a:rPr lang="en-IN" u="sng" dirty="0">
                <a:latin typeface="Times New Roman" panose="02020603050405020304" pitchFamily="18" charset="0"/>
                <a:cs typeface="Times New Roman" panose="02020603050405020304" pitchFamily="18" charset="0"/>
                <a:hlinkClick r:id="rId4"/>
              </a:rPr>
              <a:t>https://doi.org/10.1109/MNET.001.1900664</a:t>
            </a:r>
            <a:endParaRPr lang="en-IN" dirty="0">
              <a:latin typeface="Times New Roman" panose="02020603050405020304" pitchFamily="18" charset="0"/>
              <a:cs typeface="Times New Roman" panose="02020603050405020304" pitchFamily="18" charset="0"/>
            </a:endParaRPr>
          </a:p>
          <a:p>
            <a:pPr algn="just"/>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Niknam, S., Sharma, P. K., Anpalagan, A., Choudhury, N., &amp; Pandey, A. (2020). </a:t>
            </a:r>
            <a:r>
              <a:rPr lang="en-IN" i="1" dirty="0">
                <a:latin typeface="Times New Roman" panose="02020603050405020304" pitchFamily="18" charset="0"/>
                <a:cs typeface="Times New Roman" panose="02020603050405020304" pitchFamily="18" charset="0"/>
              </a:rPr>
              <a:t>Federated Learning for Wireless Communications: Motivation, Opportunities, and Challenges</a:t>
            </a:r>
            <a:r>
              <a:rPr lang="en-IN" dirty="0">
                <a:latin typeface="Times New Roman" panose="02020603050405020304" pitchFamily="18" charset="0"/>
                <a:cs typeface="Times New Roman" panose="02020603050405020304" pitchFamily="18" charset="0"/>
              </a:rPr>
              <a:t>. IEEE Communications Magazine, 58(6), 46–51. </a:t>
            </a:r>
            <a:r>
              <a:rPr lang="en-IN" u="sng" dirty="0">
                <a:latin typeface="Times New Roman" panose="02020603050405020304" pitchFamily="18" charset="0"/>
                <a:cs typeface="Times New Roman" panose="02020603050405020304" pitchFamily="18" charset="0"/>
                <a:hlinkClick r:id="rId5"/>
              </a:rPr>
              <a:t>https://doi.org/10.1109/MCOM.001.1900831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4500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200</TotalTime>
  <Words>1478</Words>
  <Application>Microsoft Office PowerPoint</Application>
  <PresentationFormat>On-screen Show (4:3)</PresentationFormat>
  <Paragraphs>168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CSE (ARTIFICIAL INTELLIGENCE)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M R❤️</cp:lastModifiedBy>
  <cp:revision>41</cp:revision>
  <dcterms:created xsi:type="dcterms:W3CDTF">2006-08-16T00:00:00Z</dcterms:created>
  <dcterms:modified xsi:type="dcterms:W3CDTF">2026-04-07T17:05:34Z</dcterms:modified>
</cp:coreProperties>
</file>