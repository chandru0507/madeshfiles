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70" r:id="rId6"/>
    <p:sldId id="263" r:id="rId7"/>
    <p:sldId id="261" r:id="rId8"/>
    <p:sldId id="262" r:id="rId9"/>
    <p:sldId id="268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2" d="100"/>
          <a:sy n="72" d="100"/>
        </p:scale>
        <p:origin x="-1224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00199"/>
            <a:ext cx="8229600" cy="609601"/>
          </a:xfrm>
        </p:spPr>
        <p:txBody>
          <a:bodyPr>
            <a:normAutofit fontScale="90000"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SIDDHARTH INSTITUTE OF ENGINEERING &amp; TECHNOLOGY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Arial Black" panose="020B0A04020102020204" pitchFamily="34" charset="0"/>
                <a:cs typeface="Times New Roman" panose="02020603050405020304" pitchFamily="18" charset="0"/>
              </a:rPr>
              <a:t> (AUTONOMOUS)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Arial Black" panose="020B0A04020102020204" pitchFamily="34" charset="0"/>
                <a:cs typeface="Times New Roman" panose="02020603050405020304" pitchFamily="18" charset="0"/>
              </a:rPr>
              <a:t>(Approved by AICTE, New Delhi &amp; Affiliated to JNTUA,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rial Black" panose="020B0A04020102020204" pitchFamily="34" charset="0"/>
                <a:cs typeface="Times New Roman" panose="02020603050405020304" pitchFamily="18" charset="0"/>
              </a:rPr>
              <a:t>Ananthapuramu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 Black" panose="020B0A04020102020204" pitchFamily="34" charset="0"/>
                <a:cs typeface="Times New Roman" panose="02020603050405020304" pitchFamily="18" charset="0"/>
              </a:rPr>
              <a:t>)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Arial Black" panose="020B0A04020102020204" pitchFamily="34" charset="0"/>
                <a:cs typeface="Times New Roman" panose="02020603050405020304" pitchFamily="18" charset="0"/>
              </a:rPr>
              <a:t>(Accredited by NBA for Civil, EEE, Mech., ECE &amp; CSE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Arial Black" panose="020B0A04020102020204" pitchFamily="34" charset="0"/>
                <a:cs typeface="Times New Roman" panose="02020603050405020304" pitchFamily="18" charset="0"/>
              </a:rPr>
              <a:t>Accredited by NAAC with ‘A+’ Grade)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Arial Black" panose="020B0A04020102020204" pitchFamily="34" charset="0"/>
                <a:cs typeface="Times New Roman" panose="02020603050405020304" pitchFamily="18" charset="0"/>
              </a:rPr>
              <a:t>Puttur -517583,Tirupathi District, A.P. (India)</a:t>
            </a:r>
            <a:br>
              <a:rPr lang="en-US" sz="1800" dirty="0">
                <a:effectLst/>
                <a:latin typeface="Times New Roman" panose="02020603050405020304" pitchFamily="18" charset="0"/>
                <a:ea typeface="Arial Black" panose="020B0A04020102020204" pitchFamily="34" charset="0"/>
                <a:cs typeface="Times New Roman" panose="02020603050405020304" pitchFamily="18" charset="0"/>
              </a:rPr>
            </a:br>
            <a:r>
              <a:rPr lang="en-US" sz="1800" b="1" dirty="0">
                <a:effectLst/>
                <a:latin typeface="Times New Roman" panose="02020603050405020304" pitchFamily="18" charset="0"/>
                <a:ea typeface="Arial Black" panose="020B0A04020102020204" pitchFamily="34" charset="0"/>
                <a:cs typeface="Times New Roman" panose="02020603050405020304" pitchFamily="18" charset="0"/>
              </a:rPr>
              <a:t>DEPARTMENT OF COMPUTER SCIENCE AND </a:t>
            </a:r>
            <a:r>
              <a:rPr lang="en-US" sz="1800" b="1" dirty="0" smtClean="0">
                <a:effectLst/>
                <a:latin typeface="Times New Roman" panose="02020603050405020304" pitchFamily="18" charset="0"/>
                <a:ea typeface="Arial Black" panose="020B0A04020102020204" pitchFamily="34" charset="0"/>
                <a:cs typeface="Times New Roman" panose="02020603050405020304" pitchFamily="18" charset="0"/>
              </a:rPr>
              <a:t>ENGINEERING</a:t>
            </a:r>
            <a:br>
              <a:rPr lang="en-US" sz="1800" b="1" dirty="0" smtClean="0">
                <a:effectLst/>
                <a:latin typeface="Times New Roman" panose="02020603050405020304" pitchFamily="18" charset="0"/>
                <a:ea typeface="Arial Black" panose="020B0A04020102020204" pitchFamily="34" charset="0"/>
                <a:cs typeface="Times New Roman" panose="02020603050405020304" pitchFamily="18" charset="0"/>
              </a:rPr>
            </a:br>
            <a:r>
              <a:rPr lang="en-US" sz="1800" b="1" dirty="0" smtClean="0">
                <a:latin typeface="Times New Roman" panose="02020603050405020304" pitchFamily="18" charset="0"/>
                <a:ea typeface="Arial Black" panose="020B0A04020102020204" pitchFamily="34" charset="0"/>
                <a:cs typeface="Times New Roman" panose="02020603050405020304" pitchFamily="18" charset="0"/>
              </a:rPr>
              <a:t>CSE (ARTIFICIAL INTELLIGENCE AND MACHINE LEARNING</a:t>
            </a:r>
            <a:r>
              <a:rPr lang="en-US" sz="1800" b="1" dirty="0" smtClean="0">
                <a:effectLst/>
                <a:latin typeface="Times New Roman" panose="02020603050405020304" pitchFamily="18" charset="0"/>
                <a:ea typeface="Arial Black" panose="020B0A04020102020204" pitchFamily="34" charset="0"/>
                <a:cs typeface="Times New Roman" panose="02020603050405020304" pitchFamily="18" charset="0"/>
              </a:rPr>
              <a:t/>
            </a:r>
            <a:br>
              <a:rPr lang="en-US" sz="1800" b="1" dirty="0" smtClean="0">
                <a:effectLst/>
                <a:latin typeface="Times New Roman" panose="02020603050405020304" pitchFamily="18" charset="0"/>
                <a:ea typeface="Arial Black" panose="020B0A04020102020204" pitchFamily="34" charset="0"/>
                <a:cs typeface="Times New Roman" panose="02020603050405020304" pitchFamily="18" charset="0"/>
              </a:rPr>
            </a:br>
            <a:r>
              <a:rPr lang="en-US" sz="1800" b="1" dirty="0" smtClean="0">
                <a:effectLst/>
                <a:latin typeface="Times New Roman" panose="02020603050405020304" pitchFamily="18" charset="0"/>
                <a:ea typeface="Arial Black" panose="020B0A04020102020204" pitchFamily="34" charset="0"/>
                <a:cs typeface="Times New Roman" panose="02020603050405020304" pitchFamily="18" charset="0"/>
              </a:rPr>
              <a:t>Academic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Arial Black" panose="020B0A04020102020204" pitchFamily="34" charset="0"/>
                <a:cs typeface="Times New Roman" panose="02020603050405020304" pitchFamily="18" charset="0"/>
              </a:rPr>
              <a:t>Year </a:t>
            </a:r>
            <a:r>
              <a:rPr lang="en-US" sz="1800" b="1" dirty="0" smtClean="0">
                <a:effectLst/>
                <a:latin typeface="Times New Roman" panose="02020603050405020304" pitchFamily="18" charset="0"/>
                <a:ea typeface="Arial Black" panose="020B0A04020102020204" pitchFamily="34" charset="0"/>
                <a:cs typeface="Times New Roman" panose="02020603050405020304" pitchFamily="18" charset="0"/>
              </a:rPr>
              <a:t>2025-26</a:t>
            </a:r>
            <a:br>
              <a:rPr lang="en-US" sz="1800" b="1" dirty="0" smtClean="0">
                <a:effectLst/>
                <a:latin typeface="Times New Roman" panose="02020603050405020304" pitchFamily="18" charset="0"/>
                <a:ea typeface="Arial Black" panose="020B0A04020102020204" pitchFamily="34" charset="0"/>
                <a:cs typeface="Times New Roman" panose="02020603050405020304" pitchFamily="18" charset="0"/>
              </a:rPr>
            </a:br>
            <a:r>
              <a:rPr lang="en-US" sz="1800" b="1" dirty="0">
                <a:effectLst/>
                <a:latin typeface="Times New Roman" panose="02020603050405020304" pitchFamily="18" charset="0"/>
                <a:ea typeface="Arial Black" panose="020B0A04020102020204" pitchFamily="34" charset="0"/>
                <a:cs typeface="Times New Roman" panose="02020603050405020304" pitchFamily="18" charset="0"/>
              </a:rPr>
              <a:t/>
            </a:r>
            <a:br>
              <a:rPr lang="en-US" sz="1800" b="1" dirty="0">
                <a:effectLst/>
                <a:latin typeface="Times New Roman" panose="02020603050405020304" pitchFamily="18" charset="0"/>
                <a:ea typeface="Arial Black" panose="020B0A04020102020204" pitchFamily="34" charset="0"/>
                <a:cs typeface="Times New Roman" panose="02020603050405020304" pitchFamily="18" charset="0"/>
              </a:rPr>
            </a:b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Siddharth Institute of Engineering &amp; Technology - [SIETK], Puttur -  Admissions, Contact, Website, Facilities 2021-202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3915" y="528235"/>
            <a:ext cx="990599" cy="866775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457200" y="3435052"/>
            <a:ext cx="2286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0"/>
              </a:spcBef>
              <a:defRPr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Batch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Details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2639839"/>
            <a:ext cx="32752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Project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Zeroth Review</a:t>
            </a:r>
            <a:endParaRPr lang="en-US" sz="2400" dirty="0"/>
          </a:p>
        </p:txBody>
      </p:sp>
      <p:sp>
        <p:nvSpPr>
          <p:cNvPr id="10" name="Rectangle 9"/>
          <p:cNvSpPr/>
          <p:nvPr/>
        </p:nvSpPr>
        <p:spPr>
          <a:xfrm>
            <a:off x="499374" y="2969176"/>
            <a:ext cx="84205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Title of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Project </a:t>
            </a:r>
            <a:endParaRPr lang="en-US" sz="2000" dirty="0"/>
          </a:p>
        </p:txBody>
      </p:sp>
      <p:graphicFrame>
        <p:nvGraphicFramePr>
          <p:cNvPr id="5" name="Table 10">
            <a:extLst>
              <a:ext uri="{FF2B5EF4-FFF2-40B4-BE49-F238E27FC236}">
                <a16:creationId xmlns="" xmlns:a16="http://schemas.microsoft.com/office/drawing/2014/main" id="{9726D40B-79FA-5C9C-B1C6-5162A7D08B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0804903"/>
              </p:ext>
            </p:extLst>
          </p:nvPr>
        </p:nvGraphicFramePr>
        <p:xfrm>
          <a:off x="556747" y="3804384"/>
          <a:ext cx="8305801" cy="2115297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49693">
                  <a:extLst>
                    <a:ext uri="{9D8B030D-6E8A-4147-A177-3AD203B41FA5}">
                      <a16:colId xmlns="" xmlns:a16="http://schemas.microsoft.com/office/drawing/2014/main" val="3454361256"/>
                    </a:ext>
                  </a:extLst>
                </a:gridCol>
                <a:gridCol w="2284095">
                  <a:extLst>
                    <a:ext uri="{9D8B030D-6E8A-4147-A177-3AD203B41FA5}">
                      <a16:colId xmlns="" xmlns:a16="http://schemas.microsoft.com/office/drawing/2014/main" val="115167568"/>
                    </a:ext>
                  </a:extLst>
                </a:gridCol>
                <a:gridCol w="2081212">
                  <a:extLst>
                    <a:ext uri="{9D8B030D-6E8A-4147-A177-3AD203B41FA5}">
                      <a16:colId xmlns="" xmlns:a16="http://schemas.microsoft.com/office/drawing/2014/main" val="2541411041"/>
                    </a:ext>
                  </a:extLst>
                </a:gridCol>
                <a:gridCol w="2590801">
                  <a:extLst>
                    <a:ext uri="{9D8B030D-6E8A-4147-A177-3AD203B41FA5}">
                      <a16:colId xmlns="" xmlns:a16="http://schemas.microsoft.com/office/drawing/2014/main" val="247963892"/>
                    </a:ext>
                  </a:extLst>
                </a:gridCol>
              </a:tblGrid>
              <a:tr h="382653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S.NO: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 NO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INTERNAL GUIDE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859435710"/>
                  </a:ext>
                </a:extLst>
              </a:tr>
              <a:tr h="43316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672826067"/>
                  </a:ext>
                </a:extLst>
              </a:tr>
              <a:tr h="43316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873735473"/>
                  </a:ext>
                </a:extLst>
              </a:tr>
              <a:tr h="43316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383131700"/>
                  </a:ext>
                </a:extLst>
              </a:tr>
              <a:tr h="43316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OBJECTIVE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3400" y="2828836"/>
            <a:ext cx="80772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0"/>
              </a:spcBef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 lvl="0">
              <a:spcBef>
                <a:spcPct val="0"/>
              </a:spcBef>
              <a:defRPr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0">
              <a:spcBef>
                <a:spcPct val="0"/>
              </a:spcBef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2</a:t>
            </a:r>
          </a:p>
          <a:p>
            <a:pPr lvl="0">
              <a:spcBef>
                <a:spcPct val="0"/>
              </a:spcBef>
              <a:defRPr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0">
              <a:spcBef>
                <a:spcPct val="0"/>
              </a:spcBef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3.</a:t>
            </a:r>
          </a:p>
          <a:p>
            <a:pPr lvl="0">
              <a:spcBef>
                <a:spcPct val="0"/>
              </a:spcBef>
              <a:defRPr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0">
              <a:spcBef>
                <a:spcPct val="0"/>
              </a:spcBef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4.</a:t>
            </a:r>
          </a:p>
          <a:p>
            <a:pPr lvl="0">
              <a:spcBef>
                <a:spcPct val="0"/>
              </a:spcBef>
              <a:defRPr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0">
              <a:spcBef>
                <a:spcPct val="0"/>
              </a:spcBef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5.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274638"/>
            <a:ext cx="8229600" cy="58213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ABSTRACT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Literature Survey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655037"/>
              </p:ext>
            </p:extLst>
          </p:nvPr>
        </p:nvGraphicFramePr>
        <p:xfrm>
          <a:off x="1066800" y="1066800"/>
          <a:ext cx="6781800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636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5636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5636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5636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5636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Sno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Year of publication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Comments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7FFE3D4B-A50D-7858-2B1A-9C6BECA4B31E}"/>
              </a:ext>
            </a:extLst>
          </p:cNvPr>
          <p:cNvSpPr txBox="1"/>
          <p:nvPr/>
        </p:nvSpPr>
        <p:spPr>
          <a:xfrm>
            <a:off x="762000" y="533400"/>
            <a:ext cx="7391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Inferences from Literature Survey</a:t>
            </a:r>
          </a:p>
        </p:txBody>
      </p:sp>
    </p:spTree>
    <p:extLst>
      <p:ext uri="{BB962C8B-B14F-4D97-AF65-F5344CB8AC3E}">
        <p14:creationId xmlns:p14="http://schemas.microsoft.com/office/powerpoint/2010/main" val="30571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Architectural Diagram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Existing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752600"/>
            <a:ext cx="8077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285750" lvl="0" indent="-285750"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Proposed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524000"/>
            <a:ext cx="8077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0"/>
              </a:spcBef>
              <a:defRPr/>
            </a:pPr>
            <a:r>
              <a:rPr lang="en-US" dirty="0"/>
              <a:t>1.</a:t>
            </a:r>
          </a:p>
          <a:p>
            <a:pPr lvl="0">
              <a:spcBef>
                <a:spcPct val="0"/>
              </a:spcBef>
              <a:defRPr/>
            </a:pPr>
            <a:endParaRPr lang="en-US" dirty="0"/>
          </a:p>
          <a:p>
            <a:pPr lvl="0">
              <a:spcBef>
                <a:spcPct val="0"/>
              </a:spcBef>
              <a:defRPr/>
            </a:pPr>
            <a:r>
              <a:rPr lang="en-US" dirty="0"/>
              <a:t>2.</a:t>
            </a:r>
          </a:p>
          <a:p>
            <a:pPr lvl="0">
              <a:spcBef>
                <a:spcPct val="0"/>
              </a:spcBef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Requirement specification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1600200"/>
            <a:ext cx="3505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Software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2590800"/>
            <a:ext cx="2971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Hardware Requirements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110</TotalTime>
  <Words>66</Words>
  <Application>Microsoft Office PowerPoint</Application>
  <PresentationFormat>On-screen Show (4:3)</PresentationFormat>
  <Paragraphs>36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SIDDHARTH INSTITUTE OF ENGINEERING &amp; TECHNOLOGY  (AUTONOMOUS) (Approved by AICTE, New Delhi &amp; Affiliated to JNTUA, Ananthapuramu) (Accredited by NBA for Civil, EEE, Mech., ECE &amp; CSE Accredited by NAAC with ‘A+’ Grade) Puttur -517583,Tirupathi District, A.P. (India) DEPARTMENT OF COMPUTER SCIENCE AND ENGINEERING CSE (ARTIFICIAL INTELLIGENCE AND MACHINE LEARNING Academic Year 2025-26    </vt:lpstr>
      <vt:lpstr>OBJECTIVE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Requirement specification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Project</dc:title>
  <dc:creator>Chandu</dc:creator>
  <cp:lastModifiedBy>admin</cp:lastModifiedBy>
  <cp:revision>23</cp:revision>
  <dcterms:created xsi:type="dcterms:W3CDTF">2006-08-16T00:00:00Z</dcterms:created>
  <dcterms:modified xsi:type="dcterms:W3CDTF">2025-11-16T03:13:32Z</dcterms:modified>
</cp:coreProperties>
</file>