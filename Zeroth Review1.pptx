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70" r:id="rId6"/>
    <p:sldId id="263" r:id="rId7"/>
    <p:sldId id="261" r:id="rId8"/>
    <p:sldId id="262" r:id="rId9"/>
    <p:sldId id="268" r:id="rId10"/>
    <p:sldId id="264" r:id="rId11"/>
    <p:sldId id="27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p:cViewPr varScale="1">
        <p:scale>
          <a:sx n="87" d="100"/>
          <a:sy n="87" d="100"/>
        </p:scale>
        <p:origin x="121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7E867B-3347-4E7B-8B3C-4C014624DC6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94B09D4A-5A32-41D5-B0CB-99E00A0B85CB}">
      <dgm:prSet custT="1">
        <dgm:style>
          <a:lnRef idx="0">
            <a:schemeClr val="accent2"/>
          </a:lnRef>
          <a:fillRef idx="3">
            <a:schemeClr val="accent2"/>
          </a:fillRef>
          <a:effectRef idx="3">
            <a:schemeClr val="accent2"/>
          </a:effectRef>
          <a:fontRef idx="minor">
            <a:schemeClr val="lt1"/>
          </a:fontRef>
        </dgm:style>
      </dgm:prSet>
      <dgm:spPr>
        <a:solidFill>
          <a:schemeClr val="bg1"/>
        </a:solidFill>
      </dgm:spPr>
      <dgm:t>
        <a:bodyPr/>
        <a:lstStyle/>
        <a:p>
          <a:pPr algn="just"/>
          <a:r>
            <a:rPr lang="en-IN" sz="1600" dirty="0">
              <a:solidFill>
                <a:schemeClr val="tx1"/>
              </a:solidFill>
              <a:latin typeface="Times New Roman" panose="02020603050405020304" pitchFamily="18" charset="0"/>
              <a:cs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Network Overload (Congestion &amp; Delays):
6G devices will generate a huge amount of data in real-time.
Sending all this data to the cloud clogs up the network (called backhaul congestion).
This causes delays, making it bad for things that need instant response, like self-driving cars or holographic calls.
🔒 Privacy and Security Risks:
Sending sensitive user data over the network and storing it in one central place creates major privacy risks.
These systems are also easily attacked by hackers who can poison the training data or reconstruct private information.
🧠 Lack of Adaptability:
These systems don't work well with the distributed and decentralized nature of 6G.
They can't easily provide personalized or local AI updates for individual devices.</a:t>
          </a:r>
          <a:endParaRPr lang="en-IN" sz="1600" dirty="0">
            <a:solidFill>
              <a:schemeClr val="tx1"/>
            </a:solidFill>
            <a:latin typeface="Times New Roman" panose="02020603050405020304" pitchFamily="18" charset="0"/>
            <a:cs typeface="Times New Roman" panose="02020603050405020304" pitchFamily="18" charset="0"/>
          </a:endParaRPr>
        </a:p>
      </dgm:t>
    </dgm:pt>
    <dgm:pt modelId="{BA654D71-25FD-4087-88EF-B457195E2DCC}" type="parTrans" cxnId="{6F6FF378-F33D-4131-8D8D-40019D9D9A6F}">
      <dgm:prSet/>
      <dgm:spPr/>
      <dgm:t>
        <a:bodyPr/>
        <a:lstStyle/>
        <a:p>
          <a:endParaRPr lang="en-IN"/>
        </a:p>
      </dgm:t>
    </dgm:pt>
    <dgm:pt modelId="{C551C35F-925A-41D7-8096-506830855017}" type="sibTrans" cxnId="{6F6FF378-F33D-4131-8D8D-40019D9D9A6F}">
      <dgm:prSet/>
      <dgm:spPr/>
      <dgm:t>
        <a:bodyPr/>
        <a:lstStyle/>
        <a:p>
          <a:endParaRPr lang="en-IN"/>
        </a:p>
      </dgm:t>
    </dgm:pt>
    <dgm:pt modelId="{C9626432-8718-460B-AC96-82DF666A047A}" type="pres">
      <dgm:prSet presAssocID="{0B7E867B-3347-4E7B-8B3C-4C014624DC6F}" presName="linearFlow" presStyleCnt="0">
        <dgm:presLayoutVars>
          <dgm:dir/>
          <dgm:resizeHandles val="exact"/>
        </dgm:presLayoutVars>
      </dgm:prSet>
      <dgm:spPr/>
    </dgm:pt>
    <dgm:pt modelId="{28371A56-8D9D-4020-9C4C-AD018D094931}" type="pres">
      <dgm:prSet presAssocID="{94B09D4A-5A32-41D5-B0CB-99E00A0B85CB}" presName="composite" presStyleCnt="0"/>
      <dgm:spPr/>
    </dgm:pt>
    <dgm:pt modelId="{46D225C1-20ED-4F5D-9DBC-FE4CF51C15C2}" type="pres">
      <dgm:prSet presAssocID="{94B09D4A-5A32-41D5-B0CB-99E00A0B85CB}" presName="imgShp" presStyleLbl="fgImgPlace1" presStyleIdx="0" presStyleCnt="1" custScaleX="91406" custScaleY="82709" custLinFactNeighborX="-4274" custLinFactNeighborY="2554"/>
      <dgm:spPr>
        <a:blipFill dpi="0" rotWithShape="1">
          <a:blip xmlns:r="http://schemas.openxmlformats.org/officeDocument/2006/relationships" r:embed="rId1"/>
          <a:srcRect/>
          <a:stretch>
            <a:fillRect l="8571" t="-522" r="-1" b="-19468"/>
          </a:stretch>
        </a:blipFill>
      </dgm:spPr>
    </dgm:pt>
    <dgm:pt modelId="{20D37EDA-F2E6-4803-BD28-71E30519588E}" type="pres">
      <dgm:prSet presAssocID="{94B09D4A-5A32-41D5-B0CB-99E00A0B85CB}" presName="txShp" presStyleLbl="node1" presStyleIdx="0" presStyleCnt="1" custScaleX="134954" custScaleY="199215">
        <dgm:presLayoutVars>
          <dgm:bulletEnabled val="1"/>
        </dgm:presLayoutVars>
      </dgm:prSet>
      <dgm:spPr/>
    </dgm:pt>
  </dgm:ptLst>
  <dgm:cxnLst>
    <dgm:cxn modelId="{727EE50E-294B-46D1-9FF3-BA4CE8A62C5D}" type="presOf" srcId="{94B09D4A-5A32-41D5-B0CB-99E00A0B85CB}" destId="{20D37EDA-F2E6-4803-BD28-71E30519588E}" srcOrd="0" destOrd="0" presId="urn:microsoft.com/office/officeart/2005/8/layout/vList3"/>
    <dgm:cxn modelId="{6F6FF378-F33D-4131-8D8D-40019D9D9A6F}" srcId="{0B7E867B-3347-4E7B-8B3C-4C014624DC6F}" destId="{94B09D4A-5A32-41D5-B0CB-99E00A0B85CB}" srcOrd="0" destOrd="0" parTransId="{BA654D71-25FD-4087-88EF-B457195E2DCC}" sibTransId="{C551C35F-925A-41D7-8096-506830855017}"/>
    <dgm:cxn modelId="{51F4B896-1165-4A98-BA6E-144A29EBB73D}" type="presOf" srcId="{0B7E867B-3347-4E7B-8B3C-4C014624DC6F}" destId="{C9626432-8718-460B-AC96-82DF666A047A}" srcOrd="0" destOrd="0" presId="urn:microsoft.com/office/officeart/2005/8/layout/vList3"/>
    <dgm:cxn modelId="{10316783-0D4D-41DD-AE77-E69037660CCA}" type="presParOf" srcId="{C9626432-8718-460B-AC96-82DF666A047A}" destId="{28371A56-8D9D-4020-9C4C-AD018D094931}" srcOrd="0" destOrd="0" presId="urn:microsoft.com/office/officeart/2005/8/layout/vList3"/>
    <dgm:cxn modelId="{CEB7970D-1FC5-4AD8-94B2-D2EEF0EB8C05}" type="presParOf" srcId="{28371A56-8D9D-4020-9C4C-AD018D094931}" destId="{46D225C1-20ED-4F5D-9DBC-FE4CF51C15C2}" srcOrd="0" destOrd="0" presId="urn:microsoft.com/office/officeart/2005/8/layout/vList3"/>
    <dgm:cxn modelId="{577BE410-DCE7-4D83-AEA1-3698654CA946}" type="presParOf" srcId="{28371A56-8D9D-4020-9C4C-AD018D094931}" destId="{20D37EDA-F2E6-4803-BD28-71E30519588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33B943-989A-439E-AB6A-01F7232604A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D4E7476-A4D2-48A5-A456-0B5D1EAC1E6E}">
      <dgm:prSet>
        <dgm:style>
          <a:lnRef idx="0">
            <a:scrgbClr r="0" g="0" b="0"/>
          </a:lnRef>
          <a:fillRef idx="0">
            <a:scrgbClr r="0" g="0" b="0"/>
          </a:fillRef>
          <a:effectRef idx="0">
            <a:scrgbClr r="0" g="0" b="0"/>
          </a:effectRef>
          <a:fontRef idx="minor">
            <a:schemeClr val="dk1"/>
          </a:fontRef>
        </dgm:style>
      </dgm:prSet>
      <dgm:spPr>
        <a:noFill/>
        <a:ln>
          <a:noFill/>
        </a:ln>
      </dgm:spPr>
      <dgm:t>
        <a:bodyPr/>
        <a:lstStyle/>
        <a:p>
          <a:pPr algn="just">
            <a:lnSpc>
              <a:spcPct val="150000"/>
            </a:lnSpc>
          </a:pPr>
          <a:r>
            <a:rPr lang="en-US" dirty="0">
              <a:solidFill>
                <a:schemeClr val="tx1"/>
              </a:solidFill>
            </a:rPr>
            <a:t>This study demonstrates the efficacy of a machine learning-based framework for early preterm birth prediction using </a:t>
          </a:r>
          <a:r>
            <a:rPr lang="en-US" dirty="0" err="1">
              <a:solidFill>
                <a:schemeClr val="tx1"/>
              </a:solidFill>
            </a:rPr>
            <a:t>Electrohysterogram</a:t>
          </a:r>
          <a:r>
            <a:rPr lang="en-US" dirty="0">
              <a:solidFill>
                <a:schemeClr val="tx1"/>
              </a:solidFill>
            </a:rPr>
            <a:t> (EHG) signals. By combining a custom device with the TPEHGDB dataset and extracting key features like Count Contraction and Entropy, we addressed the critical need for accurate maternal health monitoring. The application of SMOTE-ENN balanced the dataset, while models like Random Forest and Decision Tree achieved superior performance, validated by 10-Fold Cross-Validation. Metrics such as accuracy, precision, and F1-score underscored the robustness of these models. The findings highlight the potential of integrating biomedical signal processing with machine learning to support timely clinical interventions, offering a promising tool to reduce preterm birth complications and enhance neonatal outcomes globally.</a:t>
          </a:r>
          <a:endParaRPr lang="en-IN" dirty="0">
            <a:solidFill>
              <a:schemeClr val="tx1"/>
            </a:solidFill>
          </a:endParaRPr>
        </a:p>
      </dgm:t>
    </dgm:pt>
    <dgm:pt modelId="{AA6303D3-E1E2-4544-8D12-1769882E0D19}" type="parTrans" cxnId="{D16C7939-6F56-4E77-A85B-CF2537DD46D8}">
      <dgm:prSet/>
      <dgm:spPr/>
      <dgm:t>
        <a:bodyPr/>
        <a:lstStyle/>
        <a:p>
          <a:endParaRPr lang="en-IN"/>
        </a:p>
      </dgm:t>
    </dgm:pt>
    <dgm:pt modelId="{5B8D82AF-A9E1-4DC6-B6CA-49204CE8091E}" type="sibTrans" cxnId="{D16C7939-6F56-4E77-A85B-CF2537DD46D8}">
      <dgm:prSet/>
      <dgm:spPr/>
      <dgm:t>
        <a:bodyPr/>
        <a:lstStyle/>
        <a:p>
          <a:endParaRPr lang="en-IN"/>
        </a:p>
      </dgm:t>
    </dgm:pt>
    <dgm:pt modelId="{3FBED282-DE04-4C5D-A77C-19CB1569A839}" type="pres">
      <dgm:prSet presAssocID="{F933B943-989A-439E-AB6A-01F7232604AB}" presName="linear" presStyleCnt="0">
        <dgm:presLayoutVars>
          <dgm:animLvl val="lvl"/>
          <dgm:resizeHandles val="exact"/>
        </dgm:presLayoutVars>
      </dgm:prSet>
      <dgm:spPr/>
    </dgm:pt>
    <dgm:pt modelId="{9C5A0C70-ACBF-4504-8DB4-E648888CC135}" type="pres">
      <dgm:prSet presAssocID="{6D4E7476-A4D2-48A5-A456-0B5D1EAC1E6E}" presName="parentText" presStyleLbl="node1" presStyleIdx="0" presStyleCnt="1" custScaleY="102326">
        <dgm:presLayoutVars>
          <dgm:chMax val="0"/>
          <dgm:bulletEnabled val="1"/>
        </dgm:presLayoutVars>
      </dgm:prSet>
      <dgm:spPr/>
    </dgm:pt>
  </dgm:ptLst>
  <dgm:cxnLst>
    <dgm:cxn modelId="{C168432C-D86E-448A-B53F-238D72F60DAC}" type="presOf" srcId="{6D4E7476-A4D2-48A5-A456-0B5D1EAC1E6E}" destId="{9C5A0C70-ACBF-4504-8DB4-E648888CC135}" srcOrd="0" destOrd="0" presId="urn:microsoft.com/office/officeart/2005/8/layout/vList2"/>
    <dgm:cxn modelId="{D16C7939-6F56-4E77-A85B-CF2537DD46D8}" srcId="{F933B943-989A-439E-AB6A-01F7232604AB}" destId="{6D4E7476-A4D2-48A5-A456-0B5D1EAC1E6E}" srcOrd="0" destOrd="0" parTransId="{AA6303D3-E1E2-4544-8D12-1769882E0D19}" sibTransId="{5B8D82AF-A9E1-4DC6-B6CA-49204CE8091E}"/>
    <dgm:cxn modelId="{2363CFDB-1910-4C61-99DD-46E4EFA7201E}" type="presOf" srcId="{F933B943-989A-439E-AB6A-01F7232604AB}" destId="{3FBED282-DE04-4C5D-A77C-19CB1569A839}" srcOrd="0" destOrd="0" presId="urn:microsoft.com/office/officeart/2005/8/layout/vList2"/>
    <dgm:cxn modelId="{A4DC1A34-CC86-4A48-8D1B-0000D738C2AF}" type="presParOf" srcId="{3FBED282-DE04-4C5D-A77C-19CB1569A839}" destId="{9C5A0C70-ACBF-4504-8DB4-E648888CC13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D37EDA-F2E6-4803-BD28-71E30519588E}">
      <dsp:nvSpPr>
        <dsp:cNvPr id="0" name=""/>
        <dsp:cNvSpPr/>
      </dsp:nvSpPr>
      <dsp:spPr>
        <a:xfrm rot="10800000">
          <a:off x="573147" y="2684"/>
          <a:ext cx="7385605" cy="5486826"/>
        </a:xfrm>
        <a:prstGeom prst="homePlate">
          <a:avLst/>
        </a:prstGeom>
        <a:solidFill>
          <a:schemeClr val="bg1"/>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2"/>
        </a:lnRef>
        <a:fillRef idx="3">
          <a:schemeClr val="accent2"/>
        </a:fillRef>
        <a:effectRef idx="3">
          <a:schemeClr val="accent2"/>
        </a:effectRef>
        <a:fontRef idx="minor">
          <a:schemeClr val="lt1"/>
        </a:fontRef>
      </dsp:style>
      <dsp:txBody>
        <a:bodyPr spcFirstLastPara="0" vert="horz" wrap="square" lIns="1214536" tIns="60960" rIns="113792" bIns="60960" numCol="1" spcCol="1270" anchor="ctr" anchorCtr="0">
          <a:noAutofit/>
        </a:bodyPr>
        <a:lstStyle/>
        <a:p>
          <a:pPr marL="0" lvl="0" indent="0" algn="just" defTabSz="711200">
            <a:lnSpc>
              <a:spcPct val="90000"/>
            </a:lnSpc>
            <a:spcBef>
              <a:spcPct val="0"/>
            </a:spcBef>
            <a:spcAft>
              <a:spcPct val="35000"/>
            </a:spcAft>
            <a:buNone/>
          </a:pPr>
          <a:r>
            <a:rPr lang="en-IN" sz="1600" kern="1200" dirty="0">
              <a:solidFill>
                <a:schemeClr val="tx1"/>
              </a:solidFill>
              <a:latin typeface="Times New Roman" panose="02020603050405020304" pitchFamily="18" charset="0"/>
              <a:cs typeface="Times New Roman" panose="02020603050405020304" pitchFamily="18" charset="0"/>
            </a:rPr>
            <a:t>🚫</a:t>
          </a:r>
          <a:r>
            <a:rPr lang="en-US" sz="1600" kern="1200" dirty="0">
              <a:solidFill>
                <a:schemeClr val="tx1"/>
              </a:solidFill>
              <a:latin typeface="Times New Roman" panose="02020603050405020304" pitchFamily="18" charset="0"/>
              <a:cs typeface="Times New Roman" panose="02020603050405020304" pitchFamily="18" charset="0"/>
            </a:rPr>
            <a:t>Network Overload (Congestion &amp; Delays):
6G devices will generate a huge amount of data in real-time.
Sending all this data to the cloud clogs up the network (called backhaul congestion).
This causes delays, making it bad for things that need instant response, like self-driving cars or holographic calls.
🔒 Privacy and Security Risks:
Sending sensitive user data over the network and storing it in one central place creates major privacy risks.
These systems are also easily attacked by hackers who can poison the training data or reconstruct private information.
🧠 Lack of Adaptability:
These systems don't work well with the distributed and decentralized nature of 6G.
They can't easily provide personalized or local AI updates for individual devices.</a:t>
          </a:r>
          <a:endParaRPr lang="en-IN" sz="1600" kern="1200" dirty="0">
            <a:solidFill>
              <a:schemeClr val="tx1"/>
            </a:solidFill>
            <a:latin typeface="Times New Roman" panose="02020603050405020304" pitchFamily="18" charset="0"/>
            <a:cs typeface="Times New Roman" panose="02020603050405020304" pitchFamily="18" charset="0"/>
          </a:endParaRPr>
        </a:p>
      </dsp:txBody>
      <dsp:txXfrm rot="10800000">
        <a:off x="1944853" y="2684"/>
        <a:ext cx="6013899" cy="5486826"/>
      </dsp:txXfrm>
    </dsp:sp>
    <dsp:sp modelId="{46D225C1-20ED-4F5D-9DBC-FE4CF51C15C2}">
      <dsp:nvSpPr>
        <dsp:cNvPr id="0" name=""/>
        <dsp:cNvSpPr/>
      </dsp:nvSpPr>
      <dsp:spPr>
        <a:xfrm>
          <a:off x="153130" y="1677444"/>
          <a:ext cx="2517525" cy="2277990"/>
        </a:xfrm>
        <a:prstGeom prst="ellipse">
          <a:avLst/>
        </a:prstGeom>
        <a:blipFill dpi="0" rotWithShape="1">
          <a:blip xmlns:r="http://schemas.openxmlformats.org/officeDocument/2006/relationships" r:embed="rId1"/>
          <a:srcRect/>
          <a:stretch>
            <a:fillRect l="8571" t="-522" r="-1" b="-19468"/>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5A0C70-ACBF-4504-8DB4-E648888CC135}">
      <dsp:nvSpPr>
        <dsp:cNvPr id="0" name=""/>
        <dsp:cNvSpPr/>
      </dsp:nvSpPr>
      <dsp:spPr>
        <a:xfrm>
          <a:off x="0" y="6"/>
          <a:ext cx="8673296" cy="4367437"/>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just" defTabSz="711200">
            <a:lnSpc>
              <a:spcPct val="150000"/>
            </a:lnSpc>
            <a:spcBef>
              <a:spcPct val="0"/>
            </a:spcBef>
            <a:spcAft>
              <a:spcPct val="35000"/>
            </a:spcAft>
            <a:buNone/>
          </a:pPr>
          <a:r>
            <a:rPr lang="en-US" sz="1600" kern="1200" dirty="0">
              <a:solidFill>
                <a:schemeClr val="tx1"/>
              </a:solidFill>
            </a:rPr>
            <a:t>This study demonstrates the efficacy of a machine learning-based framework for early preterm birth prediction using </a:t>
          </a:r>
          <a:r>
            <a:rPr lang="en-US" sz="1600" kern="1200" dirty="0" err="1">
              <a:solidFill>
                <a:schemeClr val="tx1"/>
              </a:solidFill>
            </a:rPr>
            <a:t>Electrohysterogram</a:t>
          </a:r>
          <a:r>
            <a:rPr lang="en-US" sz="1600" kern="1200" dirty="0">
              <a:solidFill>
                <a:schemeClr val="tx1"/>
              </a:solidFill>
            </a:rPr>
            <a:t> (EHG) signals. By combining a custom device with the TPEHGDB dataset and extracting key features like Count Contraction and Entropy, we addressed the critical need for accurate maternal health monitoring. The application of SMOTE-ENN balanced the dataset, while models like Random Forest and Decision Tree achieved superior performance, validated by 10-Fold Cross-Validation. Metrics such as accuracy, precision, and F1-score underscored the robustness of these models. The findings highlight the potential of integrating biomedical signal processing with machine learning to support timely clinical interventions, offering a promising tool to reduce preterm birth complications and enhance neonatal outcomes globally.</a:t>
          </a:r>
          <a:endParaRPr lang="en-IN" sz="1600" kern="1200" dirty="0">
            <a:solidFill>
              <a:schemeClr val="tx1"/>
            </a:solidFill>
          </a:endParaRPr>
        </a:p>
      </dsp:txBody>
      <dsp:txXfrm>
        <a:off x="213201" y="213207"/>
        <a:ext cx="8246894" cy="3941035"/>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2FB23-109B-407C-B572-2D1D5619E7D3}" type="datetimeFigureOut">
              <a:rPr lang="en-IN" smtClean="0"/>
              <a:t>18-11-2025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64D3D9-2B85-4EA1-9D50-CD07E81F6139}" type="slidenum">
              <a:rPr lang="en-IN" smtClean="0"/>
              <a:t>‹#›</a:t>
            </a:fld>
            <a:endParaRPr lang="en-IN"/>
          </a:p>
        </p:txBody>
      </p:sp>
    </p:spTree>
    <p:extLst>
      <p:ext uri="{BB962C8B-B14F-4D97-AF65-F5344CB8AC3E}">
        <p14:creationId xmlns:p14="http://schemas.microsoft.com/office/powerpoint/2010/main" val="70812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64D3D9-2B85-4EA1-9D50-CD07E81F6139}" type="slidenum">
              <a:rPr lang="en-IN" smtClean="0"/>
              <a:t>2</a:t>
            </a:fld>
            <a:endParaRPr lang="en-IN"/>
          </a:p>
        </p:txBody>
      </p:sp>
    </p:spTree>
    <p:extLst>
      <p:ext uri="{BB962C8B-B14F-4D97-AF65-F5344CB8AC3E}">
        <p14:creationId xmlns:p14="http://schemas.microsoft.com/office/powerpoint/2010/main" val="2026687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199"/>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t>
            </a:r>
            <a:r>
              <a:rPr lang="en-US" sz="1800" dirty="0" err="1">
                <a:effectLst/>
                <a:latin typeface="Times New Roman" panose="02020603050405020304" pitchFamily="18" charset="0"/>
                <a:ea typeface="Arial Black" panose="020B0A04020102020204" pitchFamily="34" charset="0"/>
                <a:cs typeface="Times New Roman" panose="02020603050405020304" pitchFamily="18" charset="0"/>
              </a:rPr>
              <a:t>Ananthapuramu</a:t>
            </a: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533400" y="3955704"/>
            <a:ext cx="2286000" cy="369332"/>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Batch Details</a:t>
            </a:r>
          </a:p>
        </p:txBody>
      </p:sp>
      <p:sp>
        <p:nvSpPr>
          <p:cNvPr id="9" name="Rectangle 8"/>
          <p:cNvSpPr/>
          <p:nvPr/>
        </p:nvSpPr>
        <p:spPr>
          <a:xfrm>
            <a:off x="2743200" y="2639839"/>
            <a:ext cx="3275256" cy="461665"/>
          </a:xfrm>
          <a:prstGeom prst="rect">
            <a:avLst/>
          </a:prstGeom>
        </p:spPr>
        <p:txBody>
          <a:bodyPr wrap="none">
            <a:spAutoFit/>
          </a:bodyPr>
          <a:lstStyle/>
          <a:p>
            <a:r>
              <a:rPr lang="en-US" sz="2400" dirty="0">
                <a:latin typeface="Times New Roman" pitchFamily="18" charset="0"/>
                <a:cs typeface="Times New Roman" pitchFamily="18" charset="0"/>
              </a:rPr>
              <a:t>    Project Zeroth Review</a:t>
            </a:r>
            <a:endParaRPr lang="en-US" sz="2400" dirty="0"/>
          </a:p>
        </p:txBody>
      </p:sp>
      <p:sp>
        <p:nvSpPr>
          <p:cNvPr id="10" name="Rectangle 9"/>
          <p:cNvSpPr/>
          <p:nvPr/>
        </p:nvSpPr>
        <p:spPr>
          <a:xfrm>
            <a:off x="709214" y="2957613"/>
            <a:ext cx="7939552" cy="984885"/>
          </a:xfrm>
          <a:prstGeom prst="rect">
            <a:avLst/>
          </a:prstGeom>
        </p:spPr>
        <p:txBody>
          <a:bodyPr wrap="square">
            <a:spAutoFit/>
          </a:bodyPr>
          <a:lstStyle/>
          <a:p>
            <a:r>
              <a:rPr lang="en-US" sz="2000" b="1" dirty="0">
                <a:latin typeface="Times New Roman" pitchFamily="18" charset="0"/>
                <a:cs typeface="Times New Roman" pitchFamily="18" charset="0"/>
              </a:rPr>
              <a:t>Title of Project</a:t>
            </a:r>
          </a:p>
          <a:p>
            <a:pPr marL="1704975" indent="-1617663">
              <a:tabLst>
                <a:tab pos="360363" algn="l"/>
              </a:tabLst>
            </a:pPr>
            <a:r>
              <a:rPr lang="en-US" sz="2000" dirty="0">
                <a:latin typeface="Times New Roman" pitchFamily="18" charset="0"/>
                <a:cs typeface="Times New Roman" pitchFamily="18" charset="0"/>
              </a:rPr>
              <a:t>                         </a:t>
            </a:r>
            <a:r>
              <a:rPr lang="en-US" b="1" dirty="0">
                <a:latin typeface="Times New Roman" pitchFamily="18" charset="0"/>
                <a:cs typeface="Times New Roman" pitchFamily="18" charset="0"/>
              </a:rPr>
              <a:t>Towards Green and Trustworthy 6G:Federated Learning     Approaches for Robust Privacy</a:t>
            </a:r>
            <a:endParaRPr lang="en-US" sz="2000" b="1" dirty="0">
              <a:latin typeface="Times New Roman" pitchFamily="18" charset="0"/>
              <a:cs typeface="Times New Roman" pitchFamily="18" charset="0"/>
            </a:endParaRPr>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1406533649"/>
              </p:ext>
            </p:extLst>
          </p:nvPr>
        </p:nvGraphicFramePr>
        <p:xfrm>
          <a:off x="747248" y="4352622"/>
          <a:ext cx="7547440" cy="2098404"/>
        </p:xfrm>
        <a:graphic>
          <a:graphicData uri="http://schemas.openxmlformats.org/drawingml/2006/table">
            <a:tbl>
              <a:tblPr firstRow="1" bandRow="1">
                <a:tableStyleId>{F5AB1C69-6EDB-4FF4-983F-18BD219EF322}</a:tableStyleId>
              </a:tblPr>
              <a:tblGrid>
                <a:gridCol w="843280">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57865">
                  <a:extLst>
                    <a:ext uri="{9D8B030D-6E8A-4147-A177-3AD203B41FA5}">
                      <a16:colId xmlns:a16="http://schemas.microsoft.com/office/drawing/2014/main" val="2541411041"/>
                    </a:ext>
                  </a:extLst>
                </a:gridCol>
                <a:gridCol w="2362200">
                  <a:extLst>
                    <a:ext uri="{9D8B030D-6E8A-4147-A177-3AD203B41FA5}">
                      <a16:colId xmlns:a16="http://schemas.microsoft.com/office/drawing/2014/main" val="247963892"/>
                    </a:ext>
                  </a:extLst>
                </a:gridCol>
              </a:tblGrid>
              <a:tr h="300837">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33161">
                <a:tc>
                  <a:txBody>
                    <a:bodyPr/>
                    <a:lstStyle/>
                    <a:p>
                      <a:pPr algn="ctr"/>
                      <a:r>
                        <a:rPr lang="en-US" b="1" dirty="0"/>
                        <a:t>1</a:t>
                      </a:r>
                      <a:endParaRPr lang="en-IN" b="1" dirty="0"/>
                    </a:p>
                  </a:txBody>
                  <a:tcPr/>
                </a:tc>
                <a:tc>
                  <a:txBody>
                    <a:bodyPr/>
                    <a:lstStyle/>
                    <a:p>
                      <a:r>
                        <a:rPr lang="en-US" b="1" dirty="0"/>
                        <a:t>22F61A3114</a:t>
                      </a:r>
                      <a:endParaRPr lang="en-IN" b="1" dirty="0"/>
                    </a:p>
                  </a:txBody>
                  <a:tcPr/>
                </a:tc>
                <a:tc>
                  <a:txBody>
                    <a:bodyPr/>
                    <a:lstStyle/>
                    <a:p>
                      <a:r>
                        <a:rPr lang="en-US" b="1" dirty="0"/>
                        <a:t>C S MADESH</a:t>
                      </a:r>
                      <a:endParaRPr lang="en-IN" b="1" dirty="0"/>
                    </a:p>
                  </a:txBody>
                  <a:tcPr/>
                </a:tc>
                <a:tc rowSpan="3">
                  <a:txBody>
                    <a:bodyPr/>
                    <a:lstStyle/>
                    <a:p>
                      <a:pPr algn="ctr"/>
                      <a:endParaRPr lang="en-US" b="1" dirty="0"/>
                    </a:p>
                    <a:p>
                      <a:pPr algn="ctr"/>
                      <a:endParaRPr lang="en-US" b="1" dirty="0"/>
                    </a:p>
                    <a:p>
                      <a:pPr algn="ctr"/>
                      <a:r>
                        <a:rPr lang="en-US" b="1" dirty="0"/>
                        <a:t>K EZHILARASI</a:t>
                      </a:r>
                      <a:endParaRPr lang="en-IN" b="1" dirty="0"/>
                    </a:p>
                  </a:txBody>
                  <a:tcPr/>
                </a:tc>
                <a:extLst>
                  <a:ext uri="{0D108BD9-81ED-4DB2-BD59-A6C34878D82A}">
                    <a16:rowId xmlns:a16="http://schemas.microsoft.com/office/drawing/2014/main" val="3672826067"/>
                  </a:ext>
                </a:extLst>
              </a:tr>
              <a:tr h="433161">
                <a:tc>
                  <a:txBody>
                    <a:bodyPr/>
                    <a:lstStyle/>
                    <a:p>
                      <a:pPr algn="ctr"/>
                      <a:r>
                        <a:rPr lang="en-US" b="1" dirty="0"/>
                        <a:t>2</a:t>
                      </a:r>
                      <a:endParaRPr lang="en-IN" b="1" dirty="0"/>
                    </a:p>
                  </a:txBody>
                  <a:tcPr/>
                </a:tc>
                <a:tc>
                  <a:txBody>
                    <a:bodyPr/>
                    <a:lstStyle/>
                    <a:p>
                      <a:r>
                        <a:rPr lang="en-US" b="1" dirty="0"/>
                        <a:t>22F61A3119</a:t>
                      </a:r>
                      <a:endParaRPr lang="en-IN" b="1" dirty="0"/>
                    </a:p>
                  </a:txBody>
                  <a:tcPr/>
                </a:tc>
                <a:tc>
                  <a:txBody>
                    <a:bodyPr/>
                    <a:lstStyle/>
                    <a:p>
                      <a:r>
                        <a:rPr lang="en-US" b="1" dirty="0"/>
                        <a:t>D MOUNIKA</a:t>
                      </a:r>
                      <a:endParaRPr lang="en-IN" b="1" dirty="0"/>
                    </a:p>
                  </a:txBody>
                  <a:tcPr/>
                </a:tc>
                <a:tc vMerge="1">
                  <a:txBody>
                    <a:bodyPr/>
                    <a:lstStyle/>
                    <a:p>
                      <a:endParaRPr lang="en-IN" dirty="0"/>
                    </a:p>
                  </a:txBody>
                  <a:tcPr/>
                </a:tc>
                <a:extLst>
                  <a:ext uri="{0D108BD9-81ED-4DB2-BD59-A6C34878D82A}">
                    <a16:rowId xmlns:a16="http://schemas.microsoft.com/office/drawing/2014/main" val="873735473"/>
                  </a:ext>
                </a:extLst>
              </a:tr>
              <a:tr h="433161">
                <a:tc>
                  <a:txBody>
                    <a:bodyPr/>
                    <a:lstStyle/>
                    <a:p>
                      <a:pPr algn="ctr"/>
                      <a:r>
                        <a:rPr lang="en-US" b="1" dirty="0"/>
                        <a:t>3</a:t>
                      </a:r>
                      <a:endParaRPr lang="en-IN" b="1" dirty="0"/>
                    </a:p>
                  </a:txBody>
                  <a:tcPr/>
                </a:tc>
                <a:tc>
                  <a:txBody>
                    <a:bodyPr/>
                    <a:lstStyle/>
                    <a:p>
                      <a:r>
                        <a:rPr lang="en-US" b="1" dirty="0"/>
                        <a:t>23F65A3101</a:t>
                      </a:r>
                      <a:endParaRPr lang="en-IN" b="1" dirty="0"/>
                    </a:p>
                  </a:txBody>
                  <a:tcPr/>
                </a:tc>
                <a:tc>
                  <a:txBody>
                    <a:bodyPr/>
                    <a:lstStyle/>
                    <a:p>
                      <a:r>
                        <a:rPr lang="en-US" b="1" dirty="0"/>
                        <a:t>K ADIMURTHY</a:t>
                      </a:r>
                      <a:endParaRPr lang="en-IN" b="1" dirty="0"/>
                    </a:p>
                  </a:txBody>
                  <a:tcPr/>
                </a:tc>
                <a:tc vMerge="1">
                  <a:txBody>
                    <a:bodyPr/>
                    <a:lstStyle/>
                    <a:p>
                      <a:endParaRPr lang="en-IN" dirty="0"/>
                    </a:p>
                  </a:txBody>
                  <a:tcPr/>
                </a:tc>
                <a:extLst>
                  <a:ext uri="{0D108BD9-81ED-4DB2-BD59-A6C34878D82A}">
                    <a16:rowId xmlns:a16="http://schemas.microsoft.com/office/drawing/2014/main" val="2383131700"/>
                  </a:ext>
                </a:extLst>
              </a:tr>
              <a:tr h="433161">
                <a:tc>
                  <a:txBody>
                    <a:bodyPr/>
                    <a:lstStyle/>
                    <a:p>
                      <a:pPr algn="ctr"/>
                      <a:r>
                        <a:rPr lang="en-US" b="1" dirty="0"/>
                        <a:t>4</a:t>
                      </a:r>
                      <a:endParaRPr lang="en-IN" b="1" dirty="0"/>
                    </a:p>
                  </a:txBody>
                  <a:tcPr/>
                </a:tc>
                <a:tc>
                  <a:txBody>
                    <a:bodyPr/>
                    <a:lstStyle/>
                    <a:p>
                      <a:r>
                        <a:rPr lang="en-US" b="1" dirty="0"/>
                        <a:t>23F65A3106</a:t>
                      </a:r>
                      <a:endParaRPr lang="en-IN" b="1" dirty="0"/>
                    </a:p>
                  </a:txBody>
                  <a:tcPr/>
                </a:tc>
                <a:tc>
                  <a:txBody>
                    <a:bodyPr/>
                    <a:lstStyle/>
                    <a:p>
                      <a:r>
                        <a:rPr lang="en-US" b="1" dirty="0"/>
                        <a:t>T VIJENDRA</a:t>
                      </a:r>
                      <a:endParaRPr lang="en-IN" b="1" dirty="0"/>
                    </a:p>
                  </a:txBody>
                  <a:tcPr/>
                </a:tc>
                <a:tc>
                  <a:txBody>
                    <a:bodyPr/>
                    <a:lstStyle/>
                    <a:p>
                      <a:endParaRPr lang="en-IN" b="1"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u="sng" dirty="0">
                <a:latin typeface="Times New Roman" pitchFamily="18" charset="0"/>
                <a:cs typeface="Times New Roman" pitchFamily="18" charset="0"/>
              </a:rPr>
              <a:t>OBJECTIVE</a:t>
            </a:r>
          </a:p>
        </p:txBody>
      </p:sp>
      <p:sp>
        <p:nvSpPr>
          <p:cNvPr id="3" name="TextBox 2">
            <a:extLst>
              <a:ext uri="{FF2B5EF4-FFF2-40B4-BE49-F238E27FC236}">
                <a16:creationId xmlns:a16="http://schemas.microsoft.com/office/drawing/2014/main" id="{726A93DD-2CE7-502C-EBF7-EDF548EABED2}"/>
              </a:ext>
            </a:extLst>
          </p:cNvPr>
          <p:cNvSpPr txBox="1"/>
          <p:nvPr/>
        </p:nvSpPr>
        <p:spPr>
          <a:xfrm>
            <a:off x="381000" y="1295400"/>
            <a:ext cx="8153400" cy="5770811"/>
          </a:xfrm>
          <a:prstGeom prst="rect">
            <a:avLst/>
          </a:prstGeom>
          <a:noFill/>
        </p:spPr>
        <p:txBody>
          <a:bodyPr wrap="square" rtlCol="0">
            <a:spAutoFit/>
          </a:bodyPr>
          <a:lstStyle/>
          <a:p>
            <a:pPr marL="285750" indent="-2880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 the help of Federated Learning (FL), the system enables multiple edge devices to collaboratively train machine learning models without sharing their raw data, thereby preserving user privacy and reducing network congestion.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Ultimately, the system demonstrates the feasibility and benefits of Federated Learning for future 6G-enabled intelligent infrastructure.</a:t>
            </a:r>
          </a:p>
          <a:p>
            <a:pPr marL="285750" indent="-285750">
              <a:buFont typeface="Arial" panose="020B0604020202020204" pitchFamily="34" charset="0"/>
              <a:buChar char="•"/>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39616" y="502247"/>
            <a:ext cx="8229600" cy="868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ABSTRACT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i="1" u="sng"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i="1" u="sng"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E6FFA22A-F80F-4CDB-F116-439D300E55EC}"/>
              </a:ext>
            </a:extLst>
          </p:cNvPr>
          <p:cNvSpPr txBox="1"/>
          <p:nvPr/>
        </p:nvSpPr>
        <p:spPr>
          <a:xfrm>
            <a:off x="363416" y="1385263"/>
            <a:ext cx="8305800" cy="5069145"/>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cloud‑centric AI pipelines cannot scale to this setting because continuous raw‑data transfer overloads backhaul links and exposes sensitive user </a:t>
            </a:r>
            <a:r>
              <a:rPr lang="en-IN" dirty="0" err="1">
                <a:latin typeface="Times New Roman" panose="02020603050405020304" pitchFamily="18" charset="0"/>
                <a:cs typeface="Times New Roman" panose="02020603050405020304" pitchFamily="18" charset="0"/>
              </a:rPr>
              <a:t>information.To</a:t>
            </a:r>
            <a:r>
              <a:rPr lang="en-IN" dirty="0">
                <a:latin typeface="Times New Roman" panose="02020603050405020304" pitchFamily="18" charset="0"/>
                <a:cs typeface="Times New Roman" panose="02020603050405020304" pitchFamily="18" charset="0"/>
              </a:rPr>
              <a:t> address this gap, our project implements a </a:t>
            </a:r>
            <a:r>
              <a:rPr lang="en-IN" b="1" dirty="0">
                <a:latin typeface="Times New Roman" panose="02020603050405020304" pitchFamily="18" charset="0"/>
                <a:cs typeface="Times New Roman" panose="02020603050405020304" pitchFamily="18" charset="0"/>
              </a:rPr>
              <a:t>federated‑learning (FL) framework</a:t>
            </a:r>
            <a:r>
              <a:rPr lang="en-IN"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We prototype the concept in a Flask web application that allows users to register, upload sample beamforming datasets, choose among six candidate algorithms (Random Forest, FNN, CNN, MLP,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Decision Tree), and receive real‑time prediction feedback on 6G beam‑forming success</a:t>
            </a:r>
            <a:r>
              <a:rPr lang="en-IN"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0803" y="99171"/>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843701383"/>
              </p:ext>
            </p:extLst>
          </p:nvPr>
        </p:nvGraphicFramePr>
        <p:xfrm>
          <a:off x="190500" y="990600"/>
          <a:ext cx="8762999" cy="5585144"/>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2975327">
                  <a:extLst>
                    <a:ext uri="{9D8B030D-6E8A-4147-A177-3AD203B41FA5}">
                      <a16:colId xmlns:a16="http://schemas.microsoft.com/office/drawing/2014/main" val="20001"/>
                    </a:ext>
                  </a:extLst>
                </a:gridCol>
                <a:gridCol w="1444273">
                  <a:extLst>
                    <a:ext uri="{9D8B030D-6E8A-4147-A177-3AD203B41FA5}">
                      <a16:colId xmlns:a16="http://schemas.microsoft.com/office/drawing/2014/main" val="20002"/>
                    </a:ext>
                  </a:extLst>
                </a:gridCol>
                <a:gridCol w="1752599">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tblGrid>
              <a:tr h="579884">
                <a:tc>
                  <a:txBody>
                    <a:bodyPr/>
                    <a:lstStyle/>
                    <a:p>
                      <a:pPr algn="ctr"/>
                      <a:r>
                        <a:rPr lang="en-US" dirty="0">
                          <a:latin typeface="Times New Roman" pitchFamily="18" charset="0"/>
                          <a:cs typeface="Times New Roman" pitchFamily="18" charset="0"/>
                        </a:rPr>
                        <a:t>Sno</a:t>
                      </a:r>
                    </a:p>
                  </a:txBody>
                  <a:tcPr>
                    <a:solidFill>
                      <a:srgbClr val="7030A0"/>
                    </a:solidFill>
                  </a:tcPr>
                </a:tc>
                <a:tc>
                  <a:txBody>
                    <a:bodyPr/>
                    <a:lstStyle/>
                    <a:p>
                      <a:pPr algn="ctr"/>
                      <a:r>
                        <a:rPr lang="en-US" dirty="0">
                          <a:latin typeface="Times New Roman" pitchFamily="18" charset="0"/>
                          <a:cs typeface="Times New Roman" pitchFamily="18" charset="0"/>
                        </a:rPr>
                        <a:t>Title of the Paper</a:t>
                      </a:r>
                    </a:p>
                  </a:txBody>
                  <a:tcPr>
                    <a:solidFill>
                      <a:srgbClr val="7030A0"/>
                    </a:solidFill>
                  </a:tcPr>
                </a:tc>
                <a:tc>
                  <a:txBody>
                    <a:bodyPr/>
                    <a:lstStyle/>
                    <a:p>
                      <a:pPr algn="ctr"/>
                      <a:r>
                        <a:rPr lang="en-US" dirty="0">
                          <a:latin typeface="Times New Roman" pitchFamily="18" charset="0"/>
                          <a:cs typeface="Times New Roman" pitchFamily="18" charset="0"/>
                        </a:rPr>
                        <a:t>Year of publication</a:t>
                      </a:r>
                    </a:p>
                  </a:txBody>
                  <a:tcPr>
                    <a:solidFill>
                      <a:srgbClr val="7030A0"/>
                    </a:solidFill>
                  </a:tcPr>
                </a:tc>
                <a:tc>
                  <a:txBody>
                    <a:bodyPr/>
                    <a:lstStyle/>
                    <a:p>
                      <a:pPr algn="ctr"/>
                      <a:r>
                        <a:rPr lang="en-US" dirty="0">
                          <a:latin typeface="Times New Roman" pitchFamily="18" charset="0"/>
                          <a:cs typeface="Times New Roman" pitchFamily="18" charset="0"/>
                        </a:rPr>
                        <a:t>Author</a:t>
                      </a:r>
                    </a:p>
                  </a:txBody>
                  <a:tcPr>
                    <a:solidFill>
                      <a:srgbClr val="7030A0"/>
                    </a:solidFill>
                  </a:tcPr>
                </a:tc>
                <a:tc>
                  <a:txBody>
                    <a:bodyPr/>
                    <a:lstStyle/>
                    <a:p>
                      <a:pPr algn="ctr"/>
                      <a:r>
                        <a:rPr lang="en-US" dirty="0">
                          <a:latin typeface="Times New Roman" pitchFamily="18" charset="0"/>
                          <a:cs typeface="Times New Roman" pitchFamily="18" charset="0"/>
                        </a:rPr>
                        <a:t>Comments</a:t>
                      </a:r>
                    </a:p>
                  </a:txBody>
                  <a:tcPr>
                    <a:solidFill>
                      <a:srgbClr val="7030A0"/>
                    </a:solidFill>
                  </a:tcPr>
                </a:tc>
                <a:extLst>
                  <a:ext uri="{0D108BD9-81ED-4DB2-BD59-A6C34878D82A}">
                    <a16:rowId xmlns:a16="http://schemas.microsoft.com/office/drawing/2014/main" val="10000"/>
                  </a:ext>
                </a:extLst>
              </a:tr>
              <a:tr h="1340910">
                <a:tc>
                  <a:txBody>
                    <a:bodyPr/>
                    <a:lstStyle/>
                    <a:p>
                      <a:pPr algn="ctr"/>
                      <a:endParaRPr lang="en-US" sz="2000" dirty="0"/>
                    </a:p>
                    <a:p>
                      <a:pPr algn="ctr"/>
                      <a:endParaRPr lang="en-US" sz="2000" dirty="0"/>
                    </a:p>
                    <a:p>
                      <a:pPr algn="ctr"/>
                      <a:r>
                        <a:rPr lang="en-US" sz="2000" dirty="0"/>
                        <a:t>1</a:t>
                      </a:r>
                    </a:p>
                  </a:txBody>
                  <a:tcPr/>
                </a:tc>
                <a:tc>
                  <a:txBody>
                    <a:bodyPr/>
                    <a:lstStyle/>
                    <a:p>
                      <a:pPr algn="just"/>
                      <a:r>
                        <a:rPr lang="en-US" sz="1800" dirty="0">
                          <a:latin typeface="Times New Roman" panose="02020603050405020304" pitchFamily="18" charset="0"/>
                          <a:cs typeface="Times New Roman" panose="02020603050405020304" pitchFamily="18" charset="0"/>
                        </a:rPr>
                        <a:t>Blockchain-empowered Federated Learning for 6G</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2023</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Xu et al.</a:t>
                      </a:r>
                    </a:p>
                  </a:txBody>
                  <a:tcPr marL="17065" marR="17065" marT="8533" marB="8533" anchor="ctr"/>
                </a:tc>
                <a:tc>
                  <a:txBody>
                    <a:bodyPr/>
                    <a:lstStyle/>
                    <a:p>
                      <a:pPr algn="just"/>
                      <a:r>
                        <a:rPr lang="en-US" sz="1600" dirty="0">
                          <a:latin typeface="Times New Roman" panose="02020603050405020304" pitchFamily="18" charset="0"/>
                          <a:cs typeface="Times New Roman" panose="02020603050405020304" pitchFamily="18" charset="0"/>
                        </a:rPr>
                        <a:t>Combines FL with blockchain for traceability and trust in 6G; emphasizes audit trails and secure updates</a:t>
                      </a:r>
                    </a:p>
                  </a:txBody>
                  <a:tcPr marL="17065" marR="17065" marT="8533" marB="8533" anchor="ctr"/>
                </a:tc>
                <a:extLst>
                  <a:ext uri="{0D108BD9-81ED-4DB2-BD59-A6C34878D82A}">
                    <a16:rowId xmlns:a16="http://schemas.microsoft.com/office/drawing/2014/main" val="10001"/>
                  </a:ext>
                </a:extLst>
              </a:tr>
              <a:tr h="1192550">
                <a:tc>
                  <a:txBody>
                    <a:bodyPr/>
                    <a:lstStyle/>
                    <a:p>
                      <a:pPr algn="ctr"/>
                      <a:endParaRPr lang="en-US" sz="2000" dirty="0"/>
                    </a:p>
                    <a:p>
                      <a:pPr algn="ctr"/>
                      <a:r>
                        <a:rPr lang="en-US" sz="2000" dirty="0"/>
                        <a:t>2</a:t>
                      </a:r>
                    </a:p>
                  </a:txBody>
                  <a:tcPr/>
                </a:tc>
                <a:tc>
                  <a:txBody>
                    <a:bodyPr/>
                    <a:lstStyle/>
                    <a:p>
                      <a:pPr algn="just"/>
                      <a:r>
                        <a:rPr lang="en-US" sz="1800" dirty="0">
                          <a:latin typeface="Times New Roman" panose="02020603050405020304" pitchFamily="18" charset="0"/>
                          <a:cs typeface="Times New Roman" panose="02020603050405020304" pitchFamily="18" charset="0"/>
                        </a:rPr>
                        <a:t>Federated Learning for Edge Intelligence in 6G Networks</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2022</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Yang et al.</a:t>
                      </a:r>
                    </a:p>
                  </a:txBody>
                  <a:tcPr marL="17065" marR="17065" marT="8533" marB="8533" anchor="ctr"/>
                </a:tc>
                <a:tc>
                  <a:txBody>
                    <a:bodyPr/>
                    <a:lstStyle/>
                    <a:p>
                      <a:pPr algn="just"/>
                      <a:r>
                        <a:rPr lang="en-US" sz="1600" dirty="0">
                          <a:latin typeface="Times New Roman" panose="02020603050405020304" pitchFamily="18" charset="0"/>
                          <a:cs typeface="Times New Roman" panose="02020603050405020304" pitchFamily="18" charset="0"/>
                        </a:rPr>
                        <a:t>Overview of enabling FL in 6G, covers latency, non-IID issues, and model convergence</a:t>
                      </a:r>
                    </a:p>
                  </a:txBody>
                  <a:tcPr marL="17065" marR="17065" marT="8533" marB="8533" anchor="ctr"/>
                </a:tc>
                <a:extLst>
                  <a:ext uri="{0D108BD9-81ED-4DB2-BD59-A6C34878D82A}">
                    <a16:rowId xmlns:a16="http://schemas.microsoft.com/office/drawing/2014/main" val="10002"/>
                  </a:ext>
                </a:extLst>
              </a:tr>
              <a:tr h="899093">
                <a:tc>
                  <a:txBody>
                    <a:bodyPr/>
                    <a:lstStyle/>
                    <a:p>
                      <a:pPr algn="ctr"/>
                      <a:endParaRPr lang="en-US" sz="2000" dirty="0"/>
                    </a:p>
                    <a:p>
                      <a:pPr algn="ctr"/>
                      <a:r>
                        <a:rPr lang="en-US" sz="2000" dirty="0"/>
                        <a:t>3</a:t>
                      </a:r>
                    </a:p>
                  </a:txBody>
                  <a:tcPr/>
                </a:tc>
                <a:tc>
                  <a:txBody>
                    <a:bodyPr/>
                    <a:lstStyle/>
                    <a:p>
                      <a:pPr algn="just"/>
                      <a:r>
                        <a:rPr lang="en-US" sz="1800" dirty="0">
                          <a:latin typeface="Times New Roman" panose="02020603050405020304" pitchFamily="18" charset="0"/>
                          <a:cs typeface="Times New Roman" panose="02020603050405020304" pitchFamily="18" charset="0"/>
                        </a:rPr>
                        <a:t>Federated Learning in 6G: A Survey on Enabling Technologies</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2021</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Luong et al.</a:t>
                      </a:r>
                    </a:p>
                  </a:txBody>
                  <a:tcPr marL="17065" marR="17065" marT="8533" marB="8533" anchor="ctr"/>
                </a:tc>
                <a:tc>
                  <a:txBody>
                    <a:bodyPr/>
                    <a:lstStyle/>
                    <a:p>
                      <a:pPr algn="just"/>
                      <a:r>
                        <a:rPr lang="en-US" sz="1600" dirty="0">
                          <a:latin typeface="Times New Roman" panose="02020603050405020304" pitchFamily="18" charset="0"/>
                          <a:cs typeface="Times New Roman" panose="02020603050405020304" pitchFamily="18" charset="0"/>
                        </a:rPr>
                        <a:t>In-depth survey on FL challenges and architectures in 6G ecosystems</a:t>
                      </a:r>
                    </a:p>
                  </a:txBody>
                  <a:tcPr marL="17065" marR="17065" marT="8533" marB="8533" anchor="ctr"/>
                </a:tc>
                <a:extLst>
                  <a:ext uri="{0D108BD9-81ED-4DB2-BD59-A6C34878D82A}">
                    <a16:rowId xmlns:a16="http://schemas.microsoft.com/office/drawing/2014/main" val="10003"/>
                  </a:ext>
                </a:extLst>
              </a:tr>
              <a:tr h="1120002">
                <a:tc>
                  <a:txBody>
                    <a:bodyPr/>
                    <a:lstStyle/>
                    <a:p>
                      <a:pPr algn="ctr"/>
                      <a:endParaRPr lang="en-US" sz="2000" dirty="0"/>
                    </a:p>
                    <a:p>
                      <a:pPr algn="ctr"/>
                      <a:r>
                        <a:rPr lang="en-US" sz="2000" dirty="0"/>
                        <a:t>4</a:t>
                      </a:r>
                    </a:p>
                  </a:txBody>
                  <a:tcPr/>
                </a:tc>
                <a:tc>
                  <a:txBody>
                    <a:bodyPr/>
                    <a:lstStyle/>
                    <a:p>
                      <a:pPr algn="just"/>
                      <a:r>
                        <a:rPr lang="en-US" sz="1800" dirty="0">
                          <a:latin typeface="Times New Roman" panose="02020603050405020304" pitchFamily="18" charset="0"/>
                          <a:cs typeface="Times New Roman" panose="02020603050405020304" pitchFamily="18" charset="0"/>
                        </a:rPr>
                        <a:t>Adaptive Federated Learning in Resource Constrained Edge Systems</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2021</a:t>
                      </a:r>
                    </a:p>
                  </a:txBody>
                  <a:tcPr marL="17065" marR="17065" marT="8533" marB="8533" anchor="ctr"/>
                </a:tc>
                <a:tc>
                  <a:txBody>
                    <a:bodyPr/>
                    <a:lstStyle/>
                    <a:p>
                      <a:pPr algn="ctr"/>
                      <a:r>
                        <a:rPr lang="en-IN" sz="1800" dirty="0">
                          <a:latin typeface="Times New Roman" panose="02020603050405020304" pitchFamily="18" charset="0"/>
                          <a:cs typeface="Times New Roman" panose="02020603050405020304" pitchFamily="18" charset="0"/>
                        </a:rPr>
                        <a:t>Wang et al.</a:t>
                      </a:r>
                    </a:p>
                  </a:txBody>
                  <a:tcPr marL="17065" marR="17065" marT="8533" marB="8533" anchor="ctr"/>
                </a:tc>
                <a:tc>
                  <a:txBody>
                    <a:bodyPr/>
                    <a:lstStyle/>
                    <a:p>
                      <a:pPr algn="just"/>
                      <a:r>
                        <a:rPr lang="en-US" sz="1600" dirty="0">
                          <a:latin typeface="Times New Roman" panose="02020603050405020304" pitchFamily="18" charset="0"/>
                          <a:cs typeface="Times New Roman" panose="02020603050405020304" pitchFamily="18" charset="0"/>
                        </a:rPr>
                        <a:t>Proposes adaptive scheduling strategies to handle client heterogeneity and stragglers</a:t>
                      </a:r>
                    </a:p>
                  </a:txBody>
                  <a:tcPr marL="17065" marR="17065" marT="8533" marB="8533"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FE3D4B-A50D-7858-2B1A-9C6BECA4B31E}"/>
              </a:ext>
            </a:extLst>
          </p:cNvPr>
          <p:cNvSpPr txBox="1"/>
          <p:nvPr/>
        </p:nvSpPr>
        <p:spPr>
          <a:xfrm>
            <a:off x="762000" y="287215"/>
            <a:ext cx="7391400"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Inferences from Literature Survey</a:t>
            </a:r>
          </a:p>
        </p:txBody>
      </p:sp>
      <p:sp>
        <p:nvSpPr>
          <p:cNvPr id="21" name="TextBox 20">
            <a:extLst>
              <a:ext uri="{FF2B5EF4-FFF2-40B4-BE49-F238E27FC236}">
                <a16:creationId xmlns:a16="http://schemas.microsoft.com/office/drawing/2014/main" id="{8CCF030F-EC2E-44D9-D678-CAD822B828E4}"/>
              </a:ext>
            </a:extLst>
          </p:cNvPr>
          <p:cNvSpPr txBox="1"/>
          <p:nvPr/>
        </p:nvSpPr>
        <p:spPr>
          <a:xfrm>
            <a:off x="381000" y="1676400"/>
            <a:ext cx="184731" cy="369332"/>
          </a:xfrm>
          <a:prstGeom prst="rect">
            <a:avLst/>
          </a:prstGeom>
          <a:noFill/>
        </p:spPr>
        <p:txBody>
          <a:bodyPr wrap="none" rtlCol="0">
            <a:spAutoFit/>
          </a:bodyPr>
          <a:lstStyle/>
          <a:p>
            <a:endParaRPr lang="en-IN" dirty="0"/>
          </a:p>
        </p:txBody>
      </p:sp>
      <p:sp>
        <p:nvSpPr>
          <p:cNvPr id="22" name="TextBox 21">
            <a:extLst>
              <a:ext uri="{FF2B5EF4-FFF2-40B4-BE49-F238E27FC236}">
                <a16:creationId xmlns:a16="http://schemas.microsoft.com/office/drawing/2014/main" id="{032AEFD6-2540-E01A-A527-B9142DD5B505}"/>
              </a:ext>
            </a:extLst>
          </p:cNvPr>
          <p:cNvSpPr txBox="1"/>
          <p:nvPr/>
        </p:nvSpPr>
        <p:spPr>
          <a:xfrm>
            <a:off x="350982" y="889575"/>
            <a:ext cx="8442036" cy="6038641"/>
          </a:xfrm>
          <a:prstGeom prst="rect">
            <a:avLst/>
          </a:prstGeom>
          <a:noFill/>
        </p:spPr>
        <p:txBody>
          <a:bodyPr wrap="square" rtlCol="0">
            <a:spAutoFit/>
          </a:bodyPr>
          <a:lstStyle/>
          <a:p>
            <a:pPr marL="400050" indent="-400050" algn="just">
              <a:lnSpc>
                <a:spcPct val="150000"/>
              </a:lnSpc>
              <a:buFont typeface="+mj-lt"/>
              <a:buAutoNum type="romanUcPeriod"/>
            </a:pPr>
            <a:r>
              <a:rPr lang="en-US" sz="2000" b="1" dirty="0">
                <a:latin typeface="Times New Roman" panose="02020603050405020304" pitchFamily="18" charset="0"/>
                <a:cs typeface="Times New Roman" panose="02020603050405020304" pitchFamily="18" charset="0"/>
              </a:rPr>
              <a:t>Focus on 6G and Edge </a:t>
            </a:r>
            <a:r>
              <a:rPr lang="en-US" sz="2000" b="1" dirty="0" err="1">
                <a:latin typeface="Times New Roman" panose="02020603050405020304" pitchFamily="18" charset="0"/>
                <a:cs typeface="Times New Roman" panose="02020603050405020304" pitchFamily="18" charset="0"/>
              </a:rPr>
              <a:t>Computing</a:t>
            </a:r>
            <a:r>
              <a:rPr lang="en-US" sz="2000" dirty="0" err="1">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literature is heavily focused on the application of </a:t>
            </a:r>
            <a:r>
              <a:rPr lang="en-US" sz="2000" b="1" dirty="0">
                <a:latin typeface="Times New Roman" panose="02020603050405020304" pitchFamily="18" charset="0"/>
                <a:cs typeface="Times New Roman" panose="02020603050405020304" pitchFamily="18" charset="0"/>
              </a:rPr>
              <a:t>Federated Learning (FL)</a:t>
            </a:r>
            <a:r>
              <a:rPr lang="en-US" sz="2000" dirty="0">
                <a:latin typeface="Times New Roman" panose="02020603050405020304" pitchFamily="18" charset="0"/>
                <a:cs typeface="Times New Roman" panose="02020603050405020304" pitchFamily="18" charset="0"/>
              </a:rPr>
              <a:t> within </a:t>
            </a:r>
            <a:r>
              <a:rPr lang="en-US" sz="2000" b="1" dirty="0">
                <a:latin typeface="Times New Roman" panose="02020603050405020304" pitchFamily="18" charset="0"/>
                <a:cs typeface="Times New Roman" panose="02020603050405020304" pitchFamily="18" charset="0"/>
              </a:rPr>
              <a:t>6G networks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Edge Computing</a:t>
            </a:r>
            <a:r>
              <a:rPr lang="en-US" sz="2000" dirty="0">
                <a:latin typeface="Times New Roman" panose="02020603050405020304" pitchFamily="18" charset="0"/>
                <a:cs typeface="Times New Roman" panose="02020603050405020304" pitchFamily="18" charset="0"/>
              </a:rPr>
              <a:t> environments (Papers 1, 2, 3, and 4), indicating that this is a current and critical area of research.</a:t>
            </a:r>
          </a:p>
          <a:p>
            <a:pPr marL="400050" indent="-400050" algn="just">
              <a:lnSpc>
                <a:spcPct val="150000"/>
              </a:lnSpc>
              <a:buFont typeface="+mj-lt"/>
              <a:buAutoNum type="romanUcPeriod"/>
            </a:pPr>
            <a:r>
              <a:rPr lang="en-IN" sz="2000" b="1" dirty="0">
                <a:latin typeface="Times New Roman" panose="02020603050405020304" pitchFamily="18" charset="0"/>
                <a:cs typeface="Times New Roman" panose="02020603050405020304" pitchFamily="18" charset="0"/>
              </a:rPr>
              <a:t>Growing Research Interest</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The papers span from </a:t>
            </a:r>
            <a:r>
              <a:rPr lang="en-US" sz="2000" b="1" dirty="0">
                <a:latin typeface="Times New Roman" panose="02020603050405020304" pitchFamily="18" charset="0"/>
                <a:cs typeface="Times New Roman" panose="02020603050405020304" pitchFamily="18" charset="0"/>
              </a:rPr>
              <a:t>2021 to 2023</a:t>
            </a:r>
            <a:r>
              <a:rPr lang="en-US" sz="2000" dirty="0">
                <a:latin typeface="Times New Roman" panose="02020603050405020304" pitchFamily="18" charset="0"/>
                <a:cs typeface="Times New Roman" panose="02020603050405020304" pitchFamily="18" charset="0"/>
              </a:rPr>
              <a:t>, showing a </a:t>
            </a:r>
            <a:r>
              <a:rPr lang="en-US" sz="2000" b="1" dirty="0">
                <a:latin typeface="Times New Roman" panose="02020603050405020304" pitchFamily="18" charset="0"/>
                <a:cs typeface="Times New Roman" panose="02020603050405020304" pitchFamily="18" charset="0"/>
              </a:rPr>
              <a:t>recent and ongoing surge</a:t>
            </a:r>
            <a:r>
              <a:rPr lang="en-US" sz="2000" dirty="0">
                <a:latin typeface="Times New Roman" panose="02020603050405020304" pitchFamily="18" charset="0"/>
                <a:cs typeface="Times New Roman" panose="02020603050405020304" pitchFamily="18" charset="0"/>
              </a:rPr>
              <a:t> in research on FL in these next-generation network contexts. The latest paper (2023) focuses on a sophisticated integration, suggesting the field is quickly moving beyond basic application.</a:t>
            </a:r>
          </a:p>
          <a:p>
            <a:pPr marL="400050" indent="-400050" algn="just">
              <a:lnSpc>
                <a:spcPct val="150000"/>
              </a:lnSpc>
              <a:buFont typeface="+mj-lt"/>
              <a:buAutoNum type="romanUcPeriod"/>
            </a:pPr>
            <a:r>
              <a:rPr lang="en-US" sz="2000" b="1" dirty="0">
                <a:latin typeface="Times New Roman" panose="02020603050405020304" pitchFamily="18" charset="0"/>
                <a:cs typeface="Times New Roman" panose="02020603050405020304" pitchFamily="18" charset="0"/>
              </a:rPr>
              <a:t>Addressing Core Challenges:</a:t>
            </a:r>
            <a:r>
              <a:rPr lang="en-US" sz="2000" dirty="0">
                <a:latin typeface="Times New Roman" panose="02020603050405020304" pitchFamily="18" charset="0"/>
                <a:cs typeface="Times New Roman" panose="02020603050405020304" pitchFamily="18" charset="0"/>
              </a:rPr>
              <a:t> The surveyed works directly tackle fundamental challenges associated with implementing FL in constrained and advanced networks:</a:t>
            </a:r>
          </a:p>
          <a:p>
            <a:pPr marL="400050" indent="-400050" algn="just">
              <a:lnSpc>
                <a:spcPct val="150000"/>
              </a:lnSpc>
              <a:buFont typeface="+mj-lt"/>
              <a:buAutoNum type="romanLcPeriod"/>
            </a:pPr>
            <a:r>
              <a:rPr lang="en-US" sz="2000" b="1" dirty="0">
                <a:latin typeface="Times New Roman" panose="02020603050405020304" pitchFamily="18" charset="0"/>
                <a:cs typeface="Times New Roman" panose="02020603050405020304" pitchFamily="18" charset="0"/>
              </a:rPr>
              <a:t>Security and Trust</a:t>
            </a:r>
          </a:p>
          <a:p>
            <a:pPr marL="400050" indent="-400050" algn="just">
              <a:lnSpc>
                <a:spcPct val="150000"/>
              </a:lnSpc>
              <a:buFont typeface="+mj-lt"/>
              <a:buAutoNum type="romanLcPeriod"/>
            </a:pPr>
            <a:r>
              <a:rPr lang="en-US" sz="2000" b="1" dirty="0">
                <a:latin typeface="Times New Roman" panose="02020603050405020304" pitchFamily="18" charset="0"/>
                <a:cs typeface="Times New Roman" panose="02020603050405020304" pitchFamily="18" charset="0"/>
              </a:rPr>
              <a:t>Resource and Performance Issues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1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Architectural Diagram</a:t>
            </a:r>
          </a:p>
        </p:txBody>
      </p:sp>
      <p:pic>
        <p:nvPicPr>
          <p:cNvPr id="3" name="Picture 2">
            <a:extLst>
              <a:ext uri="{FF2B5EF4-FFF2-40B4-BE49-F238E27FC236}">
                <a16:creationId xmlns:a16="http://schemas.microsoft.com/office/drawing/2014/main" id="{F2984A31-EA40-811D-DC9D-2C6884D2E255}"/>
              </a:ext>
            </a:extLst>
          </p:cNvPr>
          <p:cNvPicPr>
            <a:picLocks noChangeAspect="1"/>
          </p:cNvPicPr>
          <p:nvPr/>
        </p:nvPicPr>
        <p:blipFill>
          <a:blip r:embed="rId2">
            <a:extLst>
              <a:ext uri="{28A0092B-C50C-407E-A947-70E740481C1C}">
                <a14:useLocalDpi xmlns:a14="http://schemas.microsoft.com/office/drawing/2010/main" val="0"/>
              </a:ext>
            </a:extLst>
          </a:blip>
          <a:srcRect l="736" t="-1893" r="736" b="5776"/>
          <a:stretch>
            <a:fillRect/>
          </a:stretch>
        </p:blipFill>
        <p:spPr>
          <a:xfrm>
            <a:off x="914400" y="1043217"/>
            <a:ext cx="7572231" cy="5540145"/>
          </a:xfrm>
          <a:prstGeom prst="snip2DiagRect">
            <a:avLst/>
          </a:prstGeom>
          <a:solidFill>
            <a:schemeClr val="bg1">
              <a:lumMod val="50000"/>
            </a:scheme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Existing System</a:t>
            </a:r>
          </a:p>
        </p:txBody>
      </p:sp>
      <p:graphicFrame>
        <p:nvGraphicFramePr>
          <p:cNvPr id="5" name="Diagram 4">
            <a:extLst>
              <a:ext uri="{FF2B5EF4-FFF2-40B4-BE49-F238E27FC236}">
                <a16:creationId xmlns:a16="http://schemas.microsoft.com/office/drawing/2014/main" id="{70121C21-BB0B-8DBC-C493-3A9E39253BA5}"/>
              </a:ext>
            </a:extLst>
          </p:cNvPr>
          <p:cNvGraphicFramePr/>
          <p:nvPr>
            <p:extLst>
              <p:ext uri="{D42A27DB-BD31-4B8C-83A1-F6EECF244321}">
                <p14:modId xmlns:p14="http://schemas.microsoft.com/office/powerpoint/2010/main" val="2663779436"/>
              </p:ext>
            </p:extLst>
          </p:nvPr>
        </p:nvGraphicFramePr>
        <p:xfrm>
          <a:off x="609600" y="1219200"/>
          <a:ext cx="8229600" cy="5492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8681"/>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Proposed Methodology</a:t>
            </a:r>
          </a:p>
        </p:txBody>
      </p:sp>
      <p:sp>
        <p:nvSpPr>
          <p:cNvPr id="3" name="Rectangle 2"/>
          <p:cNvSpPr/>
          <p:nvPr/>
        </p:nvSpPr>
        <p:spPr>
          <a:xfrm>
            <a:off x="241621" y="909231"/>
            <a:ext cx="8660757" cy="5940088"/>
          </a:xfrm>
          <a:prstGeom prst="rect">
            <a:avLst/>
          </a:prstGeom>
        </p:spPr>
        <p:txBody>
          <a:bodyPr wrap="square">
            <a:spAutoFit/>
          </a:bodyPr>
          <a:lstStyle/>
          <a:p>
            <a:pPr marL="342900" indent="-342900" algn="just">
              <a:spcBef>
                <a:spcPct val="0"/>
              </a:spcBef>
              <a:buFont typeface="Wingdings" panose="05000000000000000000" pitchFamily="2" charset="2"/>
              <a:buChar char="ü"/>
              <a:defRPr/>
            </a:pPr>
            <a:r>
              <a:rPr lang="en-IN" sz="2000" dirty="0">
                <a:latin typeface="Times New Roman" panose="02020603050405020304" pitchFamily="18" charset="0"/>
                <a:cs typeface="Times New Roman" panose="02020603050405020304" pitchFamily="18" charset="0"/>
              </a:rPr>
              <a:t>The proposed system adopts a </a:t>
            </a:r>
            <a:r>
              <a:rPr lang="en-IN" sz="2000" b="1" dirty="0">
                <a:latin typeface="Times New Roman" panose="02020603050405020304" pitchFamily="18" charset="0"/>
                <a:cs typeface="Times New Roman" panose="02020603050405020304" pitchFamily="18" charset="0"/>
              </a:rPr>
              <a:t>Federated Learning (FL)</a:t>
            </a:r>
            <a:r>
              <a:rPr lang="en-IN" sz="2000" dirty="0">
                <a:latin typeface="Times New Roman" panose="02020603050405020304" pitchFamily="18" charset="0"/>
                <a:cs typeface="Times New Roman" panose="02020603050405020304" pitchFamily="18" charset="0"/>
              </a:rPr>
              <a:t> framework tailored for 6G wireless networks. </a:t>
            </a:r>
          </a:p>
          <a:p>
            <a:pPr marL="342900" indent="-342900" algn="just">
              <a:spcBef>
                <a:spcPct val="0"/>
              </a:spcBef>
              <a:buFont typeface="Wingdings" panose="05000000000000000000" pitchFamily="2" charset="2"/>
              <a:buChar char="ü"/>
              <a:defRPr/>
            </a:pPr>
            <a:r>
              <a:rPr lang="en-IN" sz="2000" dirty="0">
                <a:latin typeface="Times New Roman" panose="02020603050405020304" pitchFamily="18" charset="0"/>
                <a:cs typeface="Times New Roman" panose="02020603050405020304" pitchFamily="18" charset="0"/>
              </a:rPr>
              <a:t>It decentralizes model training by enabling edge devices to train locally on private beamforming datasets and send only encrypted model updates to a coordinating server. These updates are aggregated to form a global model without exposing raw data. </a:t>
            </a:r>
          </a:p>
          <a:p>
            <a:pPr marL="342900" indent="-342900" algn="just">
              <a:spcBef>
                <a:spcPct val="0"/>
              </a:spcBef>
              <a:buFont typeface="Wingdings" panose="05000000000000000000" pitchFamily="2" charset="2"/>
              <a:buChar char="ü"/>
              <a:defRPr/>
            </a:pPr>
            <a:r>
              <a:rPr lang="en-IN" sz="2000" dirty="0">
                <a:latin typeface="Times New Roman" panose="02020603050405020304" pitchFamily="18" charset="0"/>
                <a:cs typeface="Times New Roman" panose="02020603050405020304" pitchFamily="18" charset="0"/>
              </a:rPr>
              <a:t>The system is implemented as a Flask-based web application, allowing users to register, upload datasets, select from six ML algorithms (Random Forest, CNN, MLP, FNN,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Decision Tree), and receive beamforming success predictions in real-time. </a:t>
            </a:r>
          </a:p>
          <a:p>
            <a:pPr marL="342900" indent="-342900" algn="just">
              <a:spcBef>
                <a:spcPct val="0"/>
              </a:spcBef>
              <a:buFont typeface="Wingdings" panose="05000000000000000000" pitchFamily="2" charset="2"/>
              <a:buChar char="ü"/>
              <a:defRPr/>
            </a:pPr>
            <a:r>
              <a:rPr lang="en-IN" sz="2000" dirty="0">
                <a:latin typeface="Times New Roman" panose="02020603050405020304" pitchFamily="18" charset="0"/>
                <a:cs typeface="Times New Roman" panose="02020603050405020304" pitchFamily="18" charset="0"/>
              </a:rPr>
              <a:t>The back end simulates FL rounds through federated averaging, demonstrating up to 100% accuracy for tree-based models and providing secure, scalable learning without sacrificing data privacy. </a:t>
            </a:r>
          </a:p>
          <a:p>
            <a:pPr marL="342900" indent="-342900" algn="just">
              <a:spcBef>
                <a:spcPct val="0"/>
              </a:spcBef>
              <a:buFont typeface="Wingdings" panose="05000000000000000000" pitchFamily="2" charset="2"/>
              <a:buChar char="ü"/>
              <a:defRPr/>
            </a:pPr>
            <a:r>
              <a:rPr lang="en-IN" sz="2000" dirty="0">
                <a:latin typeface="Times New Roman" panose="02020603050405020304" pitchFamily="18" charset="0"/>
                <a:cs typeface="Times New Roman" panose="02020603050405020304" pitchFamily="18" charset="0"/>
              </a:rPr>
              <a:t>The system also benchmarks key benefits such as latency reduction, bandwidth savings, and resistance to gradient inversion attacks. Furthermore, the framework addresses FL challenges like non-IID data, straggler clients, and poisoning attacks, and explores future enhancements using differential privacy, secure aggregation, and blockchain-based audit trails to ensure full trust and traceability in FL-based 6G deployments.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22"/>
            <a:ext cx="8229600" cy="1143000"/>
          </a:xfrm>
        </p:spPr>
        <p:txBody>
          <a:bodyPr/>
          <a:lstStyle/>
          <a:p>
            <a:r>
              <a:rPr lang="en-US" i="1" u="sng" dirty="0">
                <a:latin typeface="Times New Roman" pitchFamily="18" charset="0"/>
                <a:cs typeface="Times New Roman" pitchFamily="18" charset="0"/>
              </a:rPr>
              <a:t>Requirement specification</a:t>
            </a:r>
          </a:p>
        </p:txBody>
      </p:sp>
      <p:sp>
        <p:nvSpPr>
          <p:cNvPr id="3" name="Rectangle 2"/>
          <p:cNvSpPr/>
          <p:nvPr/>
        </p:nvSpPr>
        <p:spPr>
          <a:xfrm>
            <a:off x="762000" y="1600200"/>
            <a:ext cx="3505200" cy="369332"/>
          </a:xfrm>
          <a:prstGeom prst="rect">
            <a:avLst/>
          </a:prstGeom>
        </p:spPr>
        <p:txBody>
          <a:bodyPr wrap="square">
            <a:spAutoFit/>
          </a:bodyPr>
          <a:lstStyle/>
          <a:p>
            <a:pPr lvl="0" algn="ctr">
              <a:spcBef>
                <a:spcPct val="0"/>
              </a:spcBef>
              <a:defRPr/>
            </a:pPr>
            <a:endParaRPr lang="en-US" dirty="0">
              <a:latin typeface="Times New Roman" pitchFamily="18" charset="0"/>
              <a:cs typeface="Times New Roman" pitchFamily="18" charset="0"/>
            </a:endParaRPr>
          </a:p>
        </p:txBody>
      </p:sp>
      <p:sp>
        <p:nvSpPr>
          <p:cNvPr id="26" name="Google Shape;866;p32">
            <a:extLst>
              <a:ext uri="{FF2B5EF4-FFF2-40B4-BE49-F238E27FC236}">
                <a16:creationId xmlns:a16="http://schemas.microsoft.com/office/drawing/2014/main" id="{E659870F-77B4-3169-4125-5CA674723B7A}"/>
              </a:ext>
            </a:extLst>
          </p:cNvPr>
          <p:cNvSpPr/>
          <p:nvPr/>
        </p:nvSpPr>
        <p:spPr>
          <a:xfrm>
            <a:off x="2821005" y="2133063"/>
            <a:ext cx="951312" cy="914400"/>
          </a:xfrm>
          <a:prstGeom prst="ellipse">
            <a:avLst/>
          </a:pr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01</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27" name="Google Shape;867;p32">
            <a:extLst>
              <a:ext uri="{FF2B5EF4-FFF2-40B4-BE49-F238E27FC236}">
                <a16:creationId xmlns:a16="http://schemas.microsoft.com/office/drawing/2014/main" id="{4C5B1F9D-C23E-0C3E-ACDA-5772D84D2DB3}"/>
              </a:ext>
            </a:extLst>
          </p:cNvPr>
          <p:cNvSpPr txBox="1"/>
          <p:nvPr/>
        </p:nvSpPr>
        <p:spPr>
          <a:xfrm>
            <a:off x="3772317" y="1448090"/>
            <a:ext cx="3766500" cy="830475"/>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2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24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28" name="Google Shape;868;p32">
            <a:extLst>
              <a:ext uri="{FF2B5EF4-FFF2-40B4-BE49-F238E27FC236}">
                <a16:creationId xmlns:a16="http://schemas.microsoft.com/office/drawing/2014/main" id="{A4342AEB-86FD-5A00-0B16-64ED89CDC56C}"/>
              </a:ext>
            </a:extLst>
          </p:cNvPr>
          <p:cNvSpPr txBox="1"/>
          <p:nvPr/>
        </p:nvSpPr>
        <p:spPr>
          <a:xfrm>
            <a:off x="3772317" y="2177084"/>
            <a:ext cx="5029200" cy="384900"/>
          </a:xfrm>
          <a:prstGeom prst="rect">
            <a:avLst/>
          </a:prstGeom>
          <a:noFill/>
          <a:ln>
            <a:noFill/>
          </a:ln>
        </p:spPr>
        <p:txBody>
          <a:bodyPr spcFirstLastPara="1" wrap="square" lIns="91425" tIns="91425" rIns="91425" bIns="91425" anchor="t" anchorCtr="0">
            <a:noAutofit/>
          </a:bodyPr>
          <a:lstStyle/>
          <a:p>
            <a:pPr lvl="0"/>
            <a:r>
              <a:rPr lang="en-GB" sz="16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1600" dirty="0">
                <a:latin typeface="Times New Roman" panose="02020603050405020304" pitchFamily="18" charset="0"/>
                <a:cs typeface="Times New Roman" panose="02020603050405020304" pitchFamily="18" charset="0"/>
              </a:rPr>
              <a:t>I5/Intel Processor, </a:t>
            </a:r>
            <a:r>
              <a:rPr lang="en-IN" sz="1600" b="1" dirty="0">
                <a:latin typeface="Times New Roman" panose="02020603050405020304" pitchFamily="18" charset="0"/>
                <a:cs typeface="Times New Roman" panose="02020603050405020304" pitchFamily="18" charset="0"/>
              </a:rPr>
              <a:t>RAM:</a:t>
            </a:r>
            <a:r>
              <a:rPr lang="en-IN" sz="1600" dirty="0">
                <a:latin typeface="Times New Roman" panose="02020603050405020304" pitchFamily="18" charset="0"/>
                <a:cs typeface="Times New Roman" panose="02020603050405020304" pitchFamily="18" charset="0"/>
              </a:rPr>
              <a:t> 8GB (min),</a:t>
            </a:r>
          </a:p>
          <a:p>
            <a:pPr lvl="0"/>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Hard Disk: </a:t>
            </a:r>
            <a:r>
              <a:rPr lang="en-IN" sz="1600" dirty="0">
                <a:latin typeface="Times New Roman" panose="02020603050405020304" pitchFamily="18" charset="0"/>
                <a:cs typeface="Times New Roman" panose="02020603050405020304" pitchFamily="18" charset="0"/>
              </a:rPr>
              <a:t>128 GB</a:t>
            </a:r>
            <a:r>
              <a:rPr lang="en-IN" sz="1600" b="1" dirty="0">
                <a:latin typeface="Times New Roman" panose="02020603050405020304" pitchFamily="18" charset="0"/>
                <a:cs typeface="Times New Roman" panose="02020603050405020304" pitchFamily="18" charset="0"/>
              </a:rPr>
              <a:t>, Key Board:</a:t>
            </a:r>
            <a:r>
              <a:rPr lang="en-IN" sz="1600" dirty="0">
                <a:latin typeface="Times New Roman" panose="02020603050405020304" pitchFamily="18" charset="0"/>
                <a:cs typeface="Times New Roman" panose="02020603050405020304" pitchFamily="18" charset="0"/>
              </a:rPr>
              <a:t> Standard Windows Keyboard, </a:t>
            </a:r>
          </a:p>
          <a:p>
            <a:pPr lvl="0"/>
            <a:r>
              <a:rPr lang="en-IN" sz="1600" b="1" dirty="0">
                <a:latin typeface="Times New Roman" panose="02020603050405020304" pitchFamily="18" charset="0"/>
                <a:cs typeface="Times New Roman" panose="02020603050405020304" pitchFamily="18" charset="0"/>
              </a:rPr>
              <a:t>Mouse:</a:t>
            </a:r>
            <a:r>
              <a:rPr lang="en-IN" sz="16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16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29" name="Google Shape;870;p32">
            <a:extLst>
              <a:ext uri="{FF2B5EF4-FFF2-40B4-BE49-F238E27FC236}">
                <a16:creationId xmlns:a16="http://schemas.microsoft.com/office/drawing/2014/main" id="{7DBC640D-AF57-97C3-31E4-C537B4636546}"/>
              </a:ext>
            </a:extLst>
          </p:cNvPr>
          <p:cNvSpPr/>
          <p:nvPr/>
        </p:nvSpPr>
        <p:spPr>
          <a:xfrm>
            <a:off x="3611343" y="3645519"/>
            <a:ext cx="951312" cy="914400"/>
          </a:xfrm>
          <a:prstGeom prst="ellipse">
            <a:avLst/>
          </a:pr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02</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30" name="Google Shape;871;p32">
            <a:extLst>
              <a:ext uri="{FF2B5EF4-FFF2-40B4-BE49-F238E27FC236}">
                <a16:creationId xmlns:a16="http://schemas.microsoft.com/office/drawing/2014/main" id="{55068BA4-7EA7-525B-AFBF-D7E8A419F6A2}"/>
              </a:ext>
            </a:extLst>
          </p:cNvPr>
          <p:cNvSpPr txBox="1"/>
          <p:nvPr/>
        </p:nvSpPr>
        <p:spPr>
          <a:xfrm>
            <a:off x="4572000" y="3220460"/>
            <a:ext cx="3731776" cy="781434"/>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2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24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31" name="Google Shape;872;p32">
            <a:extLst>
              <a:ext uri="{FF2B5EF4-FFF2-40B4-BE49-F238E27FC236}">
                <a16:creationId xmlns:a16="http://schemas.microsoft.com/office/drawing/2014/main" id="{F18C315B-DB62-C097-1EEC-037552158610}"/>
              </a:ext>
            </a:extLst>
          </p:cNvPr>
          <p:cNvSpPr txBox="1"/>
          <p:nvPr/>
        </p:nvSpPr>
        <p:spPr>
          <a:xfrm>
            <a:off x="4583828" y="3877032"/>
            <a:ext cx="4066319" cy="384900"/>
          </a:xfrm>
          <a:prstGeom prst="rect">
            <a:avLst/>
          </a:prstGeom>
          <a:noFill/>
          <a:ln>
            <a:noFill/>
          </a:ln>
        </p:spPr>
        <p:txBody>
          <a:bodyPr spcFirstLastPara="1" wrap="square" lIns="91425" tIns="91425" rIns="91425" bIns="91425" anchor="t" anchorCtr="0">
            <a:noAutofit/>
          </a:bodyPr>
          <a:lstStyle/>
          <a:p>
            <a:pPr lvl="0"/>
            <a:r>
              <a:rPr lang="en-US" sz="1600"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Operating System: </a:t>
            </a:r>
            <a:r>
              <a:rPr lang="en-US" sz="1600" dirty="0">
                <a:latin typeface="Times New Roman" panose="02020603050405020304" pitchFamily="18" charset="0"/>
                <a:cs typeface="Times New Roman" panose="02020603050405020304" pitchFamily="18" charset="0"/>
              </a:rPr>
              <a:t>Windows 10, </a:t>
            </a:r>
            <a:r>
              <a:rPr lang="en-US" sz="1600" b="1" dirty="0">
                <a:latin typeface="Times New Roman" panose="02020603050405020304" pitchFamily="18" charset="0"/>
                <a:cs typeface="Times New Roman" panose="02020603050405020304" pitchFamily="18" charset="0"/>
              </a:rPr>
              <a:t>Programming Language: </a:t>
            </a:r>
            <a:r>
              <a:rPr lang="en-US" sz="1600" dirty="0">
                <a:latin typeface="Times New Roman" panose="02020603050405020304" pitchFamily="18" charset="0"/>
                <a:cs typeface="Times New Roman" panose="02020603050405020304" pitchFamily="18" charset="0"/>
              </a:rPr>
              <a:t>Python 3.10.8, </a:t>
            </a:r>
            <a:r>
              <a:rPr lang="en-US" sz="1600" b="1" dirty="0">
                <a:latin typeface="Times New Roman" panose="02020603050405020304" pitchFamily="18" charset="0"/>
                <a:cs typeface="Times New Roman" panose="02020603050405020304" pitchFamily="18" charset="0"/>
              </a:rPr>
              <a:t>IDE: </a:t>
            </a:r>
            <a:r>
              <a:rPr lang="en-US" sz="1600" dirty="0">
                <a:latin typeface="Times New Roman" panose="02020603050405020304" pitchFamily="18" charset="0"/>
                <a:cs typeface="Times New Roman" panose="02020603050405020304" pitchFamily="18" charset="0"/>
              </a:rPr>
              <a:t>VS Code)</a:t>
            </a:r>
            <a:endParaRPr lang="en-IN" sz="1600" dirty="0">
              <a:latin typeface="Times New Roman" panose="02020603050405020304" pitchFamily="18" charset="0"/>
              <a:cs typeface="Times New Roman" panose="02020603050405020304" pitchFamily="18" charset="0"/>
            </a:endParaRPr>
          </a:p>
        </p:txBody>
      </p:sp>
      <p:sp>
        <p:nvSpPr>
          <p:cNvPr id="32" name="Google Shape;873;p32">
            <a:extLst>
              <a:ext uri="{FF2B5EF4-FFF2-40B4-BE49-F238E27FC236}">
                <a16:creationId xmlns:a16="http://schemas.microsoft.com/office/drawing/2014/main" id="{E7898A6A-3774-41EF-B90E-606911881B33}"/>
              </a:ext>
            </a:extLst>
          </p:cNvPr>
          <p:cNvSpPr/>
          <p:nvPr/>
        </p:nvSpPr>
        <p:spPr>
          <a:xfrm>
            <a:off x="2939964" y="5157975"/>
            <a:ext cx="951312" cy="1000657"/>
          </a:xfrm>
          <a:prstGeom prst="ellipse">
            <a:avLst/>
          </a:pr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03</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33" name="Google Shape;874;p32">
            <a:extLst>
              <a:ext uri="{FF2B5EF4-FFF2-40B4-BE49-F238E27FC236}">
                <a16:creationId xmlns:a16="http://schemas.microsoft.com/office/drawing/2014/main" id="{06BB0733-C186-368E-5A9C-AC8008CFA3D6}"/>
              </a:ext>
            </a:extLst>
          </p:cNvPr>
          <p:cNvSpPr txBox="1"/>
          <p:nvPr/>
        </p:nvSpPr>
        <p:spPr>
          <a:xfrm>
            <a:off x="3911532" y="507929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2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24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34" name="Google Shape;875;p32">
            <a:extLst>
              <a:ext uri="{FF2B5EF4-FFF2-40B4-BE49-F238E27FC236}">
                <a16:creationId xmlns:a16="http://schemas.microsoft.com/office/drawing/2014/main" id="{10BA7D40-A709-54FF-939D-672FDA96CFD7}"/>
              </a:ext>
            </a:extLst>
          </p:cNvPr>
          <p:cNvSpPr txBox="1"/>
          <p:nvPr/>
        </p:nvSpPr>
        <p:spPr>
          <a:xfrm>
            <a:off x="3911532" y="5381558"/>
            <a:ext cx="4527912" cy="60298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6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16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16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6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16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16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1600" dirty="0">
                <a:latin typeface="Times New Roman" panose="02020603050405020304" pitchFamily="18" charset="0"/>
                <a:ea typeface="Poppins" panose="00000500000000000000"/>
                <a:cs typeface="Times New Roman" panose="02020603050405020304" pitchFamily="18" charset="0"/>
                <a:sym typeface="Poppins" panose="00000500000000000000"/>
              </a:rPr>
              <a:t>, Pandas, Seaborn, Speech Recognition)</a:t>
            </a:r>
            <a:endParaRPr sz="16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cxnSp>
        <p:nvCxnSpPr>
          <p:cNvPr id="35" name="Google Shape;878;p32">
            <a:extLst>
              <a:ext uri="{FF2B5EF4-FFF2-40B4-BE49-F238E27FC236}">
                <a16:creationId xmlns:a16="http://schemas.microsoft.com/office/drawing/2014/main" id="{EF7372CB-AAB8-E3E4-A762-B2079B18C66B}"/>
              </a:ext>
            </a:extLst>
          </p:cNvPr>
          <p:cNvCxnSpPr>
            <a:cxnSpLocks/>
            <a:endCxn id="26" idx="2"/>
          </p:cNvCxnSpPr>
          <p:nvPr/>
        </p:nvCxnSpPr>
        <p:spPr>
          <a:xfrm flipV="1">
            <a:off x="1447800" y="2590263"/>
            <a:ext cx="1373205" cy="1286769"/>
          </a:xfrm>
          <a:prstGeom prst="curvedConnector3">
            <a:avLst>
              <a:gd name="adj1" fmla="val 50000"/>
            </a:avLst>
          </a:prstGeom>
          <a:noFill/>
          <a:ln w="19050" cap="flat" cmpd="sng">
            <a:solidFill>
              <a:schemeClr val="tx1"/>
            </a:solidFill>
            <a:prstDash val="dot"/>
            <a:round/>
            <a:headEnd type="none" w="med" len="med"/>
            <a:tailEnd type="none" w="med" len="med"/>
          </a:ln>
        </p:spPr>
      </p:cxnSp>
      <p:cxnSp>
        <p:nvCxnSpPr>
          <p:cNvPr id="37" name="Google Shape;879;p32">
            <a:extLst>
              <a:ext uri="{FF2B5EF4-FFF2-40B4-BE49-F238E27FC236}">
                <a16:creationId xmlns:a16="http://schemas.microsoft.com/office/drawing/2014/main" id="{F914749A-942D-3893-E887-0459811F457E}"/>
              </a:ext>
            </a:extLst>
          </p:cNvPr>
          <p:cNvCxnSpPr>
            <a:cxnSpLocks/>
            <a:endCxn id="29" idx="2"/>
          </p:cNvCxnSpPr>
          <p:nvPr/>
        </p:nvCxnSpPr>
        <p:spPr>
          <a:xfrm flipV="1">
            <a:off x="1859382" y="4102719"/>
            <a:ext cx="1751961" cy="17633"/>
          </a:xfrm>
          <a:prstGeom prst="curvedConnector3">
            <a:avLst>
              <a:gd name="adj1" fmla="val 50000"/>
            </a:avLst>
          </a:prstGeom>
          <a:noFill/>
          <a:ln w="19050" cap="flat" cmpd="sng">
            <a:solidFill>
              <a:schemeClr val="tx1"/>
            </a:solidFill>
            <a:prstDash val="dot"/>
            <a:round/>
            <a:headEnd type="none" w="med" len="med"/>
            <a:tailEnd type="none" w="med" len="med"/>
          </a:ln>
        </p:spPr>
      </p:cxnSp>
      <p:cxnSp>
        <p:nvCxnSpPr>
          <p:cNvPr id="38" name="Google Shape;880;p32">
            <a:extLst>
              <a:ext uri="{FF2B5EF4-FFF2-40B4-BE49-F238E27FC236}">
                <a16:creationId xmlns:a16="http://schemas.microsoft.com/office/drawing/2014/main" id="{1E5307E7-51E1-9D76-FC6F-3725C50F85B8}"/>
              </a:ext>
            </a:extLst>
          </p:cNvPr>
          <p:cNvCxnSpPr>
            <a:cxnSpLocks/>
          </p:cNvCxnSpPr>
          <p:nvPr/>
        </p:nvCxnSpPr>
        <p:spPr>
          <a:xfrm>
            <a:off x="1447800" y="4460280"/>
            <a:ext cx="1266774" cy="1222770"/>
          </a:xfrm>
          <a:prstGeom prst="curvedConnector3">
            <a:avLst>
              <a:gd name="adj1" fmla="val 50000"/>
            </a:avLst>
          </a:prstGeom>
          <a:noFill/>
          <a:ln w="19050" cap="flat" cmpd="sng">
            <a:solidFill>
              <a:schemeClr val="tx1"/>
            </a:solidFill>
            <a:prstDash val="dot"/>
            <a:round/>
            <a:headEnd type="none" w="med" len="med"/>
            <a:tailEnd type="none" w="med" len="med"/>
          </a:ln>
        </p:spPr>
      </p:cxnSp>
      <p:sp>
        <p:nvSpPr>
          <p:cNvPr id="56" name="TextBox 55">
            <a:extLst>
              <a:ext uri="{FF2B5EF4-FFF2-40B4-BE49-F238E27FC236}">
                <a16:creationId xmlns:a16="http://schemas.microsoft.com/office/drawing/2014/main" id="{CE74A2E0-012E-F989-A21B-6FB964C7B908}"/>
              </a:ext>
            </a:extLst>
          </p:cNvPr>
          <p:cNvSpPr txBox="1"/>
          <p:nvPr/>
        </p:nvSpPr>
        <p:spPr>
          <a:xfrm>
            <a:off x="228600" y="3809590"/>
            <a:ext cx="1981200" cy="523220"/>
          </a:xfrm>
          <a:prstGeom prst="rect">
            <a:avLst/>
          </a:prstGeom>
          <a:noFill/>
        </p:spPr>
        <p:txBody>
          <a:bodyPr wrap="square">
            <a:spAutoFit/>
          </a:bodyPr>
          <a:lstStyle/>
          <a:p>
            <a:r>
              <a:rPr lang="en-IN" sz="2800" dirty="0"/>
              <a:t>Resources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p>
        </p:txBody>
      </p:sp>
      <p:graphicFrame>
        <p:nvGraphicFramePr>
          <p:cNvPr id="4" name="Diagram 3">
            <a:extLst>
              <a:ext uri="{FF2B5EF4-FFF2-40B4-BE49-F238E27FC236}">
                <a16:creationId xmlns:a16="http://schemas.microsoft.com/office/drawing/2014/main" id="{07B5810F-3777-2B8D-CD94-15A1C13D5548}"/>
              </a:ext>
            </a:extLst>
          </p:cNvPr>
          <p:cNvGraphicFramePr/>
          <p:nvPr>
            <p:extLst>
              <p:ext uri="{D42A27DB-BD31-4B8C-83A1-F6EECF244321}">
                <p14:modId xmlns:p14="http://schemas.microsoft.com/office/powerpoint/2010/main" val="3398094987"/>
              </p:ext>
            </p:extLst>
          </p:nvPr>
        </p:nvGraphicFramePr>
        <p:xfrm>
          <a:off x="304800" y="1524000"/>
          <a:ext cx="8673296" cy="4367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550A83-0A9B-4F71-63DC-8BB392EB2E65}"/>
              </a:ext>
            </a:extLst>
          </p:cNvPr>
          <p:cNvSpPr txBox="1">
            <a:spLocks noGrp="1" noRot="1" noMove="1" noResize="1" noEditPoints="1" noAdjustHandles="1" noChangeArrowheads="1" noChangeShapeType="1"/>
          </p:cNvSpPr>
          <p:nvPr/>
        </p:nvSpPr>
        <p:spPr>
          <a:xfrm>
            <a:off x="2209800" y="2667000"/>
            <a:ext cx="5257800" cy="1107996"/>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en-US" sz="6600" dirty="0">
                <a:latin typeface="Algerian" panose="04020705040A02060702" pitchFamily="82" charset="0"/>
              </a:rPr>
              <a:t>THANK YOU</a:t>
            </a:r>
            <a:endParaRPr lang="en-IN" sz="6600" dirty="0">
              <a:latin typeface="Algerian" panose="04020705040A02060702" pitchFamily="82" charset="0"/>
            </a:endParaRPr>
          </a:p>
        </p:txBody>
      </p:sp>
    </p:spTree>
    <p:extLst>
      <p:ext uri="{BB962C8B-B14F-4D97-AF65-F5344CB8AC3E}">
        <p14:creationId xmlns:p14="http://schemas.microsoft.com/office/powerpoint/2010/main" val="3763826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297</TotalTime>
  <Words>1233</Words>
  <Application>Microsoft Office PowerPoint</Application>
  <PresentationFormat>On-screen Show (4:3)</PresentationFormat>
  <Paragraphs>99</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Algerian</vt:lpstr>
      <vt:lpstr>Aptos</vt:lpstr>
      <vt:lpstr>Arial</vt:lpstr>
      <vt:lpstr>Calibri</vt:lpstr>
      <vt:lpstr>Poppins Black</vt:lpstr>
      <vt:lpstr>Times New Roman</vt:lpstr>
      <vt:lpstr>Wingdings</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Academic Year 2025-26    </vt:lpstr>
      <vt:lpstr>OBJECTIVE</vt:lpstr>
      <vt:lpstr>PowerPoint Presentation</vt:lpstr>
      <vt:lpstr>PowerPoint Presentation</vt:lpstr>
      <vt:lpstr>PowerPoint Presentation</vt:lpstr>
      <vt:lpstr>PowerPoint Presentation</vt:lpstr>
      <vt:lpstr>PowerPoint Presentation</vt:lpstr>
      <vt:lpstr>PowerPoint Presentation</vt:lpstr>
      <vt:lpstr>Requirement specification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MADESH RISHI</cp:lastModifiedBy>
  <cp:revision>27</cp:revision>
  <dcterms:created xsi:type="dcterms:W3CDTF">2006-08-16T00:00:00Z</dcterms:created>
  <dcterms:modified xsi:type="dcterms:W3CDTF">2025-11-18T15:35:07Z</dcterms:modified>
</cp:coreProperties>
</file>