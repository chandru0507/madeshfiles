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8" r:id="rId5"/>
    <p:sldId id="270" r:id="rId6"/>
    <p:sldId id="265" r:id="rId7"/>
    <p:sldId id="266" r:id="rId8"/>
    <p:sldId id="271" r:id="rId9"/>
    <p:sldId id="272" r:id="rId10"/>
    <p:sldId id="273" r:id="rId11"/>
    <p:sldId id="274" r:id="rId12"/>
    <p:sldId id="275" r:id="rId13"/>
    <p:sldId id="276" r:id="rId14"/>
    <p:sldId id="267" r:id="rId15"/>
    <p:sldId id="277" r:id="rId16"/>
    <p:sldId id="264" r:id="rId17"/>
    <p:sldId id="26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p:cViewPr varScale="1">
        <p:scale>
          <a:sx n="87" d="100"/>
          <a:sy n="87" d="100"/>
        </p:scale>
        <p:origin x="121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561/2200000083" TargetMode="External"/><Relationship Id="rId2" Type="http://schemas.openxmlformats.org/officeDocument/2006/relationships/hyperlink" Target="https://arxiv.org/abs/1602.05629" TargetMode="External"/><Relationship Id="rId1" Type="http://schemas.openxmlformats.org/officeDocument/2006/relationships/slideLayout" Target="../slideLayouts/slideLayout7.xml"/><Relationship Id="rId5" Type="http://schemas.openxmlformats.org/officeDocument/2006/relationships/hyperlink" Target="https://doi.org/10.1109/MCOM.001.1900831" TargetMode="External"/><Relationship Id="rId4" Type="http://schemas.openxmlformats.org/officeDocument/2006/relationships/hyperlink" Target="https://doi.org/10.1109/MNET.001.190066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Ananthapuramu)</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 AND MACHINE LEARNING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249084" y="3776915"/>
            <a:ext cx="2286000" cy="369332"/>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Batch Details</a:t>
            </a:r>
          </a:p>
        </p:txBody>
      </p:sp>
      <p:sp>
        <p:nvSpPr>
          <p:cNvPr id="9" name="Rectangle 8"/>
          <p:cNvSpPr/>
          <p:nvPr/>
        </p:nvSpPr>
        <p:spPr>
          <a:xfrm>
            <a:off x="2743200" y="2639839"/>
            <a:ext cx="3361818" cy="461665"/>
          </a:xfrm>
          <a:prstGeom prst="rect">
            <a:avLst/>
          </a:prstGeom>
        </p:spPr>
        <p:txBody>
          <a:bodyPr wrap="none">
            <a:spAutoFit/>
          </a:bodyPr>
          <a:lstStyle/>
          <a:p>
            <a:r>
              <a:rPr lang="en-US" sz="2400" dirty="0">
                <a:latin typeface="Times New Roman" pitchFamily="18" charset="0"/>
                <a:cs typeface="Times New Roman" pitchFamily="18" charset="0"/>
              </a:rPr>
              <a:t>    Project Second Review</a:t>
            </a:r>
            <a:endParaRPr lang="en-US" sz="2400" dirty="0"/>
          </a:p>
        </p:txBody>
      </p:sp>
      <p:sp>
        <p:nvSpPr>
          <p:cNvPr id="10" name="Rectangle 9"/>
          <p:cNvSpPr/>
          <p:nvPr/>
        </p:nvSpPr>
        <p:spPr>
          <a:xfrm>
            <a:off x="361726" y="2991704"/>
            <a:ext cx="8420548" cy="400110"/>
          </a:xfrm>
          <a:prstGeom prst="rect">
            <a:avLst/>
          </a:prstGeom>
        </p:spPr>
        <p:txBody>
          <a:bodyPr wrap="square">
            <a:spAutoFit/>
          </a:bodyPr>
          <a:lstStyle/>
          <a:p>
            <a:r>
              <a:rPr lang="en-US" sz="2000" dirty="0">
                <a:latin typeface="Times New Roman" pitchFamily="18" charset="0"/>
                <a:cs typeface="Times New Roman" pitchFamily="18" charset="0"/>
              </a:rPr>
              <a:t>Title of Project </a:t>
            </a:r>
            <a:endParaRPr lang="en-US" sz="2000" dirty="0"/>
          </a:p>
        </p:txBody>
      </p:sp>
      <p:graphicFrame>
        <p:nvGraphicFramePr>
          <p:cNvPr id="3"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21314388"/>
              </p:ext>
            </p:extLst>
          </p:nvPr>
        </p:nvGraphicFramePr>
        <p:xfrm>
          <a:off x="457200" y="4326756"/>
          <a:ext cx="8305801" cy="2125611"/>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81212">
                  <a:extLst>
                    <a:ext uri="{9D8B030D-6E8A-4147-A177-3AD203B41FA5}">
                      <a16:colId xmlns:a16="http://schemas.microsoft.com/office/drawing/2014/main" val="2541411041"/>
                    </a:ext>
                  </a:extLst>
                </a:gridCol>
                <a:gridCol w="2590801">
                  <a:extLst>
                    <a:ext uri="{9D8B030D-6E8A-4147-A177-3AD203B41FA5}">
                      <a16:colId xmlns:a16="http://schemas.microsoft.com/office/drawing/2014/main" val="247963892"/>
                    </a:ext>
                  </a:extLst>
                </a:gridCol>
              </a:tblGrid>
              <a:tr h="382653">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pPr algn="ctr"/>
                      <a:r>
                        <a:rPr lang="en-US" b="1" dirty="0">
                          <a:latin typeface="Times New Roman" panose="02020603050405020304" pitchFamily="18" charset="0"/>
                          <a:cs typeface="Times New Roman" panose="02020603050405020304" pitchFamily="18" charset="0"/>
                        </a:rPr>
                        <a:t>1</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22F61A3114</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C S MADESH</a:t>
                      </a:r>
                      <a:endParaRPr lang="en-IN" b="1" dirty="0">
                        <a:latin typeface="Times New Roman" panose="02020603050405020304" pitchFamily="18" charset="0"/>
                        <a:cs typeface="Times New Roman" panose="02020603050405020304" pitchFamily="18" charset="0"/>
                      </a:endParaRPr>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Times New Roman" panose="02020603050405020304" pitchFamily="18" charset="0"/>
                          <a:cs typeface="Times New Roman" panose="02020603050405020304" pitchFamily="18" charset="0"/>
                        </a:rPr>
                        <a:t>K EZHILARASI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M.Tech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Assistant Professor</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2826067"/>
                  </a:ext>
                </a:extLst>
              </a:tr>
              <a:tr h="433161">
                <a:tc>
                  <a:txBody>
                    <a:bodyPr/>
                    <a:lstStyle/>
                    <a:p>
                      <a:pPr algn="ctr"/>
                      <a:r>
                        <a:rPr lang="en-US" b="1" dirty="0">
                          <a:latin typeface="Times New Roman" panose="02020603050405020304" pitchFamily="18" charset="0"/>
                          <a:cs typeface="Times New Roman" panose="02020603050405020304" pitchFamily="18" charset="0"/>
                        </a:rPr>
                        <a:t>2</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22F61A3119</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 MOUNIKA</a:t>
                      </a:r>
                      <a:endParaRPr lang="en-IN"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extLst>
                  <a:ext uri="{0D108BD9-81ED-4DB2-BD59-A6C34878D82A}">
                    <a16:rowId xmlns:a16="http://schemas.microsoft.com/office/drawing/2014/main" val="873735473"/>
                  </a:ext>
                </a:extLst>
              </a:tr>
              <a:tr h="443475">
                <a:tc>
                  <a:txBody>
                    <a:bodyPr/>
                    <a:lstStyle/>
                    <a:p>
                      <a:pPr algn="ctr"/>
                      <a:r>
                        <a:rPr lang="en-US" b="1" dirty="0">
                          <a:latin typeface="Times New Roman" panose="02020603050405020304" pitchFamily="18" charset="0"/>
                          <a:cs typeface="Times New Roman" panose="02020603050405020304" pitchFamily="18" charset="0"/>
                        </a:rPr>
                        <a:t>3</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23F65A3101</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K ADIMURTHY</a:t>
                      </a:r>
                      <a:endParaRPr lang="en-IN"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pPr algn="ctr"/>
                      <a:r>
                        <a:rPr lang="en-US" b="1" dirty="0">
                          <a:latin typeface="Times New Roman" panose="02020603050405020304" pitchFamily="18" charset="0"/>
                          <a:cs typeface="Times New Roman" panose="02020603050405020304" pitchFamily="18" charset="0"/>
                        </a:rPr>
                        <a:t>4</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23F65A3106</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T VIJENDRA</a:t>
                      </a:r>
                      <a:endParaRPr lang="en-IN"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A0D78F45-03B0-50F3-A17F-3256934E9167}"/>
              </a:ext>
            </a:extLst>
          </p:cNvPr>
          <p:cNvSpPr txBox="1"/>
          <p:nvPr/>
        </p:nvSpPr>
        <p:spPr>
          <a:xfrm>
            <a:off x="653469" y="3294104"/>
            <a:ext cx="8033331" cy="646331"/>
          </a:xfrm>
          <a:prstGeom prst="rect">
            <a:avLst/>
          </a:prstGeom>
          <a:noFill/>
        </p:spPr>
        <p:txBody>
          <a:bodyPr wrap="square" rtlCol="0">
            <a:spAutoFit/>
          </a:bodyPr>
          <a:lstStyle/>
          <a:p>
            <a:pPr marL="1257300"/>
            <a:r>
              <a:rPr lang="en-US" b="1" dirty="0">
                <a:latin typeface="Times New Roman" pitchFamily="18" charset="0"/>
                <a:cs typeface="Times New Roman" pitchFamily="18" charset="0"/>
              </a:rPr>
              <a:t>Towards Green and Trustworthy 6G:Federated Learning     Approaches for Robust Privacy.</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82" y="215140"/>
            <a:ext cx="8229600" cy="1143000"/>
          </a:xfrm>
        </p:spPr>
        <p:txBody>
          <a:bodyPr/>
          <a:lstStyle/>
          <a:p>
            <a:r>
              <a:rPr lang="en-US" dirty="0">
                <a:latin typeface="Times New Roman" pitchFamily="18" charset="0"/>
                <a:cs typeface="Times New Roman" pitchFamily="18" charset="0"/>
              </a:rPr>
              <a:t>OBJECTIVE</a:t>
            </a:r>
          </a:p>
        </p:txBody>
      </p:sp>
      <p:sp>
        <p:nvSpPr>
          <p:cNvPr id="3" name="Rectangle 2"/>
          <p:cNvSpPr/>
          <p:nvPr/>
        </p:nvSpPr>
        <p:spPr>
          <a:xfrm>
            <a:off x="457199" y="1133985"/>
            <a:ext cx="8234819" cy="5484867"/>
          </a:xfrm>
          <a:prstGeom prst="rect">
            <a:avLst/>
          </a:prstGeom>
        </p:spPr>
        <p:txBody>
          <a:bodyPr wrap="square">
            <a:spAutoFit/>
          </a:bodyPr>
          <a:lstStyle/>
          <a:p>
            <a:pPr marL="285750" indent="-2880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the help of Federated Learning (FL), the system enables multiple edge devices to collaboratively train machine learning models without sharing their raw data, thereby preserving user privacy and reducing network congestion.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Ultimately, the system demonstrates the feasibility and benefits of Federated Learning for future 6G-enabled intelligent infrastructure.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3" name="TextBox 2">
            <a:extLst>
              <a:ext uri="{FF2B5EF4-FFF2-40B4-BE49-F238E27FC236}">
                <a16:creationId xmlns:a16="http://schemas.microsoft.com/office/drawing/2014/main" id="{D295C7A2-0390-D368-B71D-3294B66F819A}"/>
              </a:ext>
            </a:extLst>
          </p:cNvPr>
          <p:cNvSpPr txBox="1"/>
          <p:nvPr/>
        </p:nvSpPr>
        <p:spPr>
          <a:xfrm>
            <a:off x="342900" y="1145349"/>
            <a:ext cx="8458200" cy="540147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cloud‑centric AI pipelines cannot scale to this setting because continuous raw‑data transfer overloads backhaul links and exposes sensitive user information.To address this gap, our project implements a </a:t>
            </a:r>
            <a:r>
              <a:rPr lang="en-IN" b="1" dirty="0">
                <a:latin typeface="Times New Roman" panose="02020603050405020304" pitchFamily="18" charset="0"/>
                <a:cs typeface="Times New Roman" panose="02020603050405020304" pitchFamily="18" charset="0"/>
              </a:rPr>
              <a:t>federated‑learning (FL) framework</a:t>
            </a:r>
            <a:r>
              <a:rPr lang="en-IN"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 prototype the concept in a Flask web application that allows users to register, upload sample beamforming datasets, choose among six candidate algorithms (Random Forest, FNN, CNN, MLP, XGBoost, Decision Tree), and receive real‑time prediction feedback on 6G beam‑forming success</a:t>
            </a:r>
            <a:r>
              <a:rPr lang="en-IN" sz="2000" dirty="0">
                <a:latin typeface="Times New Roman" panose="02020603050405020304" pitchFamily="18" charset="0"/>
                <a:cs typeface="Times New Roman" panose="02020603050405020304" pitchFamily="18" charset="0"/>
              </a:rPr>
              <a:t>.</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REVIEW</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524741092"/>
              </p:ext>
            </p:extLst>
          </p:nvPr>
        </p:nvGraphicFramePr>
        <p:xfrm>
          <a:off x="228600" y="1143001"/>
          <a:ext cx="8686800" cy="5257799"/>
        </p:xfrm>
        <a:graphic>
          <a:graphicData uri="http://schemas.openxmlformats.org/drawingml/2006/table">
            <a:tbl>
              <a:tblPr firstRow="1" bandRow="1">
                <a:tableStyleId>{5C22544A-7EE6-4342-B048-85BDC9FD1C3A}</a:tableStyleId>
              </a:tblPr>
              <a:tblGrid>
                <a:gridCol w="21717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505200">
                  <a:extLst>
                    <a:ext uri="{9D8B030D-6E8A-4147-A177-3AD203B41FA5}">
                      <a16:colId xmlns:a16="http://schemas.microsoft.com/office/drawing/2014/main" val="20003"/>
                    </a:ext>
                  </a:extLst>
                </a:gridCol>
              </a:tblGrid>
              <a:tr h="328525">
                <a:tc>
                  <a:txBody>
                    <a:bodyPr/>
                    <a:lstStyle/>
                    <a:p>
                      <a:pPr algn="ctr"/>
                      <a:r>
                        <a:rPr lang="en-US" sz="2000" dirty="0">
                          <a:latin typeface="Times New Roman" pitchFamily="18" charset="0"/>
                          <a:cs typeface="Times New Roman" pitchFamily="18" charset="0"/>
                        </a:rPr>
                        <a:t>Title of the Paper</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Authors</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Year</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Implications</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0040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Blockchain empowered Federated Learning for 6G.</a:t>
                      </a:r>
                    </a:p>
                    <a:p>
                      <a:pPr algn="just"/>
                      <a:endParaRPr lang="en-IN" sz="2000" dirty="0">
                        <a:latin typeface="Times New Roman" pitchFamily="18" charset="0"/>
                        <a:cs typeface="Times New Roman"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Xu et al.</a:t>
                      </a:r>
                    </a:p>
                    <a:p>
                      <a:pPr algn="just"/>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2023</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Combine FL with blockchain for traceability and trust in 6G; emphasizes audit trails and secure updates.</a:t>
                      </a:r>
                    </a:p>
                    <a:p>
                      <a:pPr algn="just"/>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3715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Federated Learning for Edge Intelligence in 6G Networks.</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Yang et al.</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2022</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Overview of enabling FL in 6G, covers latency, non-IID issues, and model convergence</a:t>
                      </a:r>
                      <a:r>
                        <a:rPr lang="en-IN" sz="2000" dirty="0">
                          <a:latin typeface="Times New Roman" pitchFamily="18" charset="0"/>
                          <a:cs typeface="Times New Roman" pitchFamily="18" charset="0"/>
                        </a:rPr>
                        <a:t>.</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6351984"/>
                  </a:ext>
                </a:extLst>
              </a:tr>
              <a:tr h="1630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Federated Learning in 6G: A Survey on Enabling Technologies.</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Luong et al.</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In-depth survey on FL challenges and architectures in 6G ecosystems.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6608024"/>
                  </a:ext>
                </a:extLst>
              </a:tr>
            </a:tbl>
          </a:graphicData>
        </a:graphic>
      </p:graphicFrame>
    </p:spTree>
    <p:extLst>
      <p:ext uri="{BB962C8B-B14F-4D97-AF65-F5344CB8AC3E}">
        <p14:creationId xmlns:p14="http://schemas.microsoft.com/office/powerpoint/2010/main" val="1146185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57F3E-D62A-4EE4-F463-EE4CE49D6C12}"/>
              </a:ext>
            </a:extLst>
          </p:cNvPr>
          <p:cNvSpPr txBox="1"/>
          <p:nvPr/>
        </p:nvSpPr>
        <p:spPr>
          <a:xfrm>
            <a:off x="2286000" y="144959"/>
            <a:ext cx="4572000" cy="769441"/>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Review</a:t>
            </a:r>
          </a:p>
        </p:txBody>
      </p:sp>
      <p:graphicFrame>
        <p:nvGraphicFramePr>
          <p:cNvPr id="4" name="Table 3">
            <a:extLst>
              <a:ext uri="{FF2B5EF4-FFF2-40B4-BE49-F238E27FC236}">
                <a16:creationId xmlns:a16="http://schemas.microsoft.com/office/drawing/2014/main" id="{EF87C890-774C-CAEA-415F-CE1B044A5DFA}"/>
              </a:ext>
            </a:extLst>
          </p:cNvPr>
          <p:cNvGraphicFramePr>
            <a:graphicFrameLocks noGrp="1"/>
          </p:cNvGraphicFramePr>
          <p:nvPr>
            <p:extLst>
              <p:ext uri="{D42A27DB-BD31-4B8C-83A1-F6EECF244321}">
                <p14:modId xmlns:p14="http://schemas.microsoft.com/office/powerpoint/2010/main" val="1917006938"/>
              </p:ext>
            </p:extLst>
          </p:nvPr>
        </p:nvGraphicFramePr>
        <p:xfrm>
          <a:off x="190500" y="914400"/>
          <a:ext cx="8763000" cy="5852160"/>
        </p:xfrm>
        <a:graphic>
          <a:graphicData uri="http://schemas.openxmlformats.org/drawingml/2006/table">
            <a:tbl>
              <a:tblPr firstRow="1" bandRow="1">
                <a:tableStyleId>{5C22544A-7EE6-4342-B048-85BDC9FD1C3A}</a:tableStyleId>
              </a:tblPr>
              <a:tblGrid>
                <a:gridCol w="2190750">
                  <a:extLst>
                    <a:ext uri="{9D8B030D-6E8A-4147-A177-3AD203B41FA5}">
                      <a16:colId xmlns:a16="http://schemas.microsoft.com/office/drawing/2014/main" val="2972705182"/>
                    </a:ext>
                  </a:extLst>
                </a:gridCol>
                <a:gridCol w="1422066">
                  <a:extLst>
                    <a:ext uri="{9D8B030D-6E8A-4147-A177-3AD203B41FA5}">
                      <a16:colId xmlns:a16="http://schemas.microsoft.com/office/drawing/2014/main" val="3214008168"/>
                    </a:ext>
                  </a:extLst>
                </a:gridCol>
                <a:gridCol w="1460500">
                  <a:extLst>
                    <a:ext uri="{9D8B030D-6E8A-4147-A177-3AD203B41FA5}">
                      <a16:colId xmlns:a16="http://schemas.microsoft.com/office/drawing/2014/main" val="40876167"/>
                    </a:ext>
                  </a:extLst>
                </a:gridCol>
                <a:gridCol w="3689684">
                  <a:extLst>
                    <a:ext uri="{9D8B030D-6E8A-4147-A177-3AD203B41FA5}">
                      <a16:colId xmlns:a16="http://schemas.microsoft.com/office/drawing/2014/main" val="3671968903"/>
                    </a:ext>
                  </a:extLst>
                </a:gridCol>
              </a:tblGrid>
              <a:tr h="386449">
                <a:tc>
                  <a:txBody>
                    <a:bodyPr/>
                    <a:lstStyle/>
                    <a:p>
                      <a:pPr algn="ctr"/>
                      <a:r>
                        <a:rPr lang="en-US" sz="2000" dirty="0">
                          <a:latin typeface="Times New Roman" pitchFamily="18" charset="0"/>
                          <a:cs typeface="Times New Roman" pitchFamily="18" charset="0"/>
                        </a:rPr>
                        <a:t>Title of the Paper</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Authors</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Year</a:t>
                      </a:r>
                      <a:endParaRPr lang="en-IN" sz="2000" dirty="0">
                        <a:latin typeface="Times New Roman" pitchFamily="18" charset="0"/>
                        <a:cs typeface="Times New Roman" pitchFamily="18" charset="0"/>
                      </a:endParaRPr>
                    </a:p>
                  </a:txBody>
                  <a:tcPr/>
                </a:tc>
                <a:tc>
                  <a:txBody>
                    <a:bodyPr/>
                    <a:lstStyle/>
                    <a:p>
                      <a:pPr algn="ctr"/>
                      <a:r>
                        <a:rPr lang="en-US" sz="2000" dirty="0">
                          <a:latin typeface="Times New Roman" pitchFamily="18" charset="0"/>
                          <a:cs typeface="Times New Roman" pitchFamily="18" charset="0"/>
                        </a:rPr>
                        <a:t>Implications</a:t>
                      </a:r>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3304840810"/>
                  </a:ext>
                </a:extLst>
              </a:tr>
              <a:tr h="1872793">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7313" algn="l"/>
                        </a:tabLst>
                        <a:defRPr/>
                      </a:pPr>
                      <a:r>
                        <a:rPr lang="en-US" sz="2000" dirty="0">
                          <a:latin typeface="Times New Roman" panose="02020603050405020304" pitchFamily="18" charset="0"/>
                          <a:cs typeface="Times New Roman" panose="02020603050405020304" pitchFamily="18" charset="0"/>
                        </a:rPr>
                        <a:t>Adaptive Federated Learning in Resource Constrained Edge Systems.</a:t>
                      </a:r>
                    </a:p>
                    <a:p>
                      <a:pPr algn="just"/>
                      <a:endParaRPr lang="en-IN" sz="2000" dirty="0">
                        <a:latin typeface="Times New Roman" pitchFamily="18" charset="0"/>
                        <a:cs typeface="Times New Roman"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Wang et al.</a:t>
                      </a:r>
                    </a:p>
                    <a:p>
                      <a:pPr algn="just"/>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Proposes adaptive scheduling strategies to handle client heterogeneity and stragglers</a:t>
                      </a:r>
                    </a:p>
                    <a:p>
                      <a:pPr algn="just"/>
                      <a:endParaRPr lang="en-IN" sz="2000" dirty="0">
                        <a:latin typeface="Times New Roman" pitchFamily="18" charset="0"/>
                        <a:cs typeface="Times New Roman" pitchFamily="18" charset="0"/>
                      </a:endParaRPr>
                    </a:p>
                  </a:txBody>
                  <a:tcPr/>
                </a:tc>
                <a:extLst>
                  <a:ext uri="{0D108BD9-81ED-4DB2-BD59-A6C34878D82A}">
                    <a16:rowId xmlns:a16="http://schemas.microsoft.com/office/drawing/2014/main" val="902965742"/>
                  </a:ext>
                </a:extLst>
              </a:tr>
              <a:tr h="15755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Practical Secure Aggregation for Privacy-Preserving ML.</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Bonawitz et al.</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Introduces secure aggregation protocols enabling privacy-preserving global model updates.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0951492"/>
                  </a:ext>
                </a:extLst>
              </a:tr>
              <a:tr h="1575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Federated Learning for Edge Intelligence: Applications and Challenges</a:t>
                      </a:r>
                    </a:p>
                    <a:p>
                      <a:endParaRPr lang="en-IN" sz="200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Zhang et 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2021</a:t>
                      </a:r>
                    </a:p>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Highlights edge-based FL deployment, communication savings, and scalability.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0009248"/>
                  </a:ext>
                </a:extLst>
              </a:tr>
            </a:tbl>
          </a:graphicData>
        </a:graphic>
      </p:graphicFrame>
    </p:spTree>
    <p:extLst>
      <p:ext uri="{BB962C8B-B14F-4D97-AF65-F5344CB8AC3E}">
        <p14:creationId xmlns:p14="http://schemas.microsoft.com/office/powerpoint/2010/main" val="3543562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ARCHITECTURE DIAGRAM</a:t>
            </a:r>
          </a:p>
        </p:txBody>
      </p:sp>
      <p:pic>
        <p:nvPicPr>
          <p:cNvPr id="3" name="Picture 2" descr="A screenshot of a computer&#10;&#10;AI-generated content may be incorrect.">
            <a:extLst>
              <a:ext uri="{FF2B5EF4-FFF2-40B4-BE49-F238E27FC236}">
                <a16:creationId xmlns:a16="http://schemas.microsoft.com/office/drawing/2014/main" id="{A165CF86-B2B3-1A62-4B04-E7EC9997068A}"/>
              </a:ext>
            </a:extLst>
          </p:cNvPr>
          <p:cNvPicPr>
            <a:picLocks noChangeAspect="1"/>
          </p:cNvPicPr>
          <p:nvPr/>
        </p:nvPicPr>
        <p:blipFill>
          <a:blip r:embed="rId2">
            <a:extLst>
              <a:ext uri="{28A0092B-C50C-407E-A947-70E740481C1C}">
                <a14:useLocalDpi xmlns:a14="http://schemas.microsoft.com/office/drawing/2010/main" val="0"/>
              </a:ext>
            </a:extLst>
          </a:blip>
          <a:srcRect b="7692"/>
          <a:stretch>
            <a:fillRect/>
          </a:stretch>
        </p:blipFill>
        <p:spPr>
          <a:xfrm>
            <a:off x="457200" y="1143000"/>
            <a:ext cx="7924800" cy="5562600"/>
          </a:xfrm>
          <a:prstGeom prst="rect">
            <a:avLst/>
          </a:prstGeom>
        </p:spPr>
      </p:pic>
    </p:spTree>
    <p:extLst>
      <p:ext uri="{BB962C8B-B14F-4D97-AF65-F5344CB8AC3E}">
        <p14:creationId xmlns:p14="http://schemas.microsoft.com/office/powerpoint/2010/main" val="1925675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MODULES</a:t>
            </a:r>
          </a:p>
        </p:txBody>
      </p:sp>
      <p:sp>
        <p:nvSpPr>
          <p:cNvPr id="3" name="TextBox 2">
            <a:extLst>
              <a:ext uri="{FF2B5EF4-FFF2-40B4-BE49-F238E27FC236}">
                <a16:creationId xmlns:a16="http://schemas.microsoft.com/office/drawing/2014/main" id="{9F52347F-E157-5F10-018C-D835A6491F8F}"/>
              </a:ext>
            </a:extLst>
          </p:cNvPr>
          <p:cNvSpPr txBox="1"/>
          <p:nvPr/>
        </p:nvSpPr>
        <p:spPr>
          <a:xfrm>
            <a:off x="190500" y="1066800"/>
            <a:ext cx="8763000" cy="1200329"/>
          </a:xfrm>
          <a:prstGeom prst="rect">
            <a:avLst/>
          </a:prstGeom>
          <a:noFill/>
        </p:spPr>
        <p:txBody>
          <a:bodyPr wrap="square" rtlCol="0">
            <a:spAutoFit/>
          </a:bodyPr>
          <a:lstStyle/>
          <a:p>
            <a:pPr algn="just"/>
            <a:r>
              <a:rPr lang="en-IN" b="1" dirty="0">
                <a:latin typeface="Times New Roman" panose="02020603050405020304" pitchFamily="18" charset="0"/>
                <a:ea typeface="Calibri" panose="020F0502020204030204" pitchFamily="34" charset="0"/>
                <a:cs typeface="Times New Roman" panose="02020603050405020304" pitchFamily="18" charset="0"/>
              </a:rPr>
              <a:t>Home Page:</a:t>
            </a:r>
            <a:r>
              <a:rPr lang="en-US" dirty="0">
                <a:latin typeface="Times New Roman" panose="02020603050405020304" pitchFamily="18" charset="0"/>
                <a:cs typeface="Times New Roman" panose="02020603050405020304" pitchFamily="18" charset="0"/>
              </a:rPr>
              <a:t>The HomePage serves as the landing page of your application. It provides an overview of the project's features, objectives, and benefits</a:t>
            </a:r>
            <a:r>
              <a:rPr lang="en-US" dirty="0"/>
              <a:t>. </a:t>
            </a:r>
            <a:r>
              <a:rPr lang="en-US" dirty="0">
                <a:latin typeface="Times New Roman" panose="02020603050405020304" pitchFamily="18" charset="0"/>
                <a:cs typeface="Times New Roman" panose="02020603050405020304" pitchFamily="18" charset="0"/>
              </a:rPr>
              <a:t>Users can navigate to other sections of the application from this page.</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6B38B142-256F-A830-8D32-ECF4C763D3B8}"/>
              </a:ext>
            </a:extLst>
          </p:cNvPr>
          <p:cNvPicPr/>
          <p:nvPr/>
        </p:nvPicPr>
        <p:blipFill>
          <a:blip r:embed="rId2"/>
          <a:stretch>
            <a:fillRect/>
          </a:stretch>
        </p:blipFill>
        <p:spPr>
          <a:xfrm>
            <a:off x="685800" y="2119886"/>
            <a:ext cx="7581900" cy="4428307"/>
          </a:xfrm>
          <a:prstGeom prst="rect">
            <a:avLst/>
          </a:prstGeom>
        </p:spPr>
      </p:pic>
    </p:spTree>
    <p:extLst>
      <p:ext uri="{BB962C8B-B14F-4D97-AF65-F5344CB8AC3E}">
        <p14:creationId xmlns:p14="http://schemas.microsoft.com/office/powerpoint/2010/main" val="3168030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2862DA-1359-F903-76EB-7D9E5088276E}"/>
              </a:ext>
            </a:extLst>
          </p:cNvPr>
          <p:cNvSpPr txBox="1"/>
          <p:nvPr/>
        </p:nvSpPr>
        <p:spPr>
          <a:xfrm>
            <a:off x="381000" y="457200"/>
            <a:ext cx="8534400" cy="1200329"/>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Registration Page:</a:t>
            </a:r>
            <a:r>
              <a:rPr lang="en-US" sz="1800" dirty="0">
                <a:latin typeface="Times New Roman" panose="02020603050405020304" pitchFamily="18" charset="0"/>
                <a:cs typeface="Times New Roman" panose="02020603050405020304" pitchFamily="18" charset="0"/>
              </a:rPr>
              <a:t> The Registration Page allows new users to create an account with the application. It typically includes fields for entering personal information such as name, email,</a:t>
            </a:r>
            <a:r>
              <a:rPr lang="en-US" dirty="0">
                <a:latin typeface="Times New Roman" panose="02020603050405020304" pitchFamily="18" charset="0"/>
                <a:cs typeface="Times New Roman" panose="02020603050405020304" pitchFamily="18" charset="0"/>
              </a:rPr>
              <a:t>password, and possibly other details like phone number or address. Users need to fill out this form to gain access to the application's features.</a:t>
            </a:r>
            <a:endParaRPr lang="en-IN" dirty="0"/>
          </a:p>
        </p:txBody>
      </p:sp>
      <p:pic>
        <p:nvPicPr>
          <p:cNvPr id="4" name="Picture 3">
            <a:extLst>
              <a:ext uri="{FF2B5EF4-FFF2-40B4-BE49-F238E27FC236}">
                <a16:creationId xmlns:a16="http://schemas.microsoft.com/office/drawing/2014/main" id="{8ADF4C1C-4772-F06A-07B4-B68EE30BA4DA}"/>
              </a:ext>
            </a:extLst>
          </p:cNvPr>
          <p:cNvPicPr/>
          <p:nvPr/>
        </p:nvPicPr>
        <p:blipFill>
          <a:blip r:embed="rId2"/>
          <a:stretch>
            <a:fillRect/>
          </a:stretch>
        </p:blipFill>
        <p:spPr>
          <a:xfrm>
            <a:off x="700722" y="1905000"/>
            <a:ext cx="7742555" cy="4668646"/>
          </a:xfrm>
          <a:prstGeom prst="rect">
            <a:avLst/>
          </a:prstGeom>
        </p:spPr>
      </p:pic>
    </p:spTree>
    <p:extLst>
      <p:ext uri="{BB962C8B-B14F-4D97-AF65-F5344CB8AC3E}">
        <p14:creationId xmlns:p14="http://schemas.microsoft.com/office/powerpoint/2010/main" val="182267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5AF4DB-2824-C13F-E7F8-29849FECEA78}"/>
              </a:ext>
            </a:extLst>
          </p:cNvPr>
          <p:cNvSpPr txBox="1"/>
          <p:nvPr/>
        </p:nvSpPr>
        <p:spPr>
          <a:xfrm>
            <a:off x="381000" y="304800"/>
            <a:ext cx="8534400" cy="878895"/>
          </a:xfrm>
          <a:prstGeom prst="rect">
            <a:avLst/>
          </a:prstGeom>
          <a:noFill/>
        </p:spPr>
        <p:txBody>
          <a:bodyPr wrap="square">
            <a:spAutoFit/>
          </a:bodyPr>
          <a:lstStyle/>
          <a:p>
            <a:pPr algn="just">
              <a:lnSpc>
                <a:spcPct val="150000"/>
              </a:lnSpc>
              <a:spcAft>
                <a:spcPts val="750"/>
              </a:spcAft>
            </a:pPr>
            <a:r>
              <a:rPr lang="en-IN" sz="1800" b="1" dirty="0">
                <a:latin typeface="Times New Roman" panose="02020603050405020304" pitchFamily="18" charset="0"/>
                <a:ea typeface="Calibri" panose="020F0502020204030204" pitchFamily="34" charset="0"/>
                <a:cs typeface="Times New Roman" panose="02020603050405020304" pitchFamily="18" charset="0"/>
              </a:rPr>
              <a:t>Login: </a:t>
            </a:r>
            <a:r>
              <a:rPr lang="en-US" sz="1800" dirty="0">
                <a:latin typeface="Times New Roman" panose="02020603050405020304" pitchFamily="18" charset="0"/>
                <a:ea typeface="Calibri" panose="020F0502020204030204" pitchFamily="34" charset="0"/>
                <a:cs typeface="Times New Roman" panose="02020603050405020304" pitchFamily="18" charset="0"/>
              </a:rPr>
              <a:t>The login page allows registered users to securely access the application. User have to provide register email and password.</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F58A25C-A927-A76C-8636-21BAB4FC26E6}"/>
              </a:ext>
            </a:extLst>
          </p:cNvPr>
          <p:cNvPicPr/>
          <p:nvPr/>
        </p:nvPicPr>
        <p:blipFill>
          <a:blip r:embed="rId2"/>
          <a:stretch>
            <a:fillRect/>
          </a:stretch>
        </p:blipFill>
        <p:spPr>
          <a:xfrm>
            <a:off x="533400" y="1447800"/>
            <a:ext cx="8229600" cy="4800600"/>
          </a:xfrm>
          <a:prstGeom prst="rect">
            <a:avLst/>
          </a:prstGeom>
        </p:spPr>
      </p:pic>
    </p:spTree>
    <p:extLst>
      <p:ext uri="{BB962C8B-B14F-4D97-AF65-F5344CB8AC3E}">
        <p14:creationId xmlns:p14="http://schemas.microsoft.com/office/powerpoint/2010/main" val="2262370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567726-317C-67E7-5263-91C9360AD22D}"/>
              </a:ext>
            </a:extLst>
          </p:cNvPr>
          <p:cNvSpPr txBox="1"/>
          <p:nvPr/>
        </p:nvSpPr>
        <p:spPr>
          <a:xfrm>
            <a:off x="335280" y="457200"/>
            <a:ext cx="4572000" cy="458074"/>
          </a:xfrm>
          <a:prstGeom prst="rect">
            <a:avLst/>
          </a:prstGeom>
          <a:noFill/>
        </p:spPr>
        <p:txBody>
          <a:bodyPr wrap="square">
            <a:spAutoFit/>
          </a:bodyPr>
          <a:lstStyle/>
          <a:p>
            <a:pPr>
              <a:lnSpc>
                <a:spcPct val="150000"/>
              </a:lnSpc>
              <a:spcAft>
                <a:spcPts val="750"/>
              </a:spcAft>
            </a:pPr>
            <a:r>
              <a:rPr lang="en-US" sz="1800" b="1" dirty="0">
                <a:latin typeface="Times New Roman" panose="02020603050405020304" pitchFamily="18" charset="0"/>
                <a:ea typeface="Calibri" panose="020F0502020204030204" pitchFamily="34" charset="0"/>
                <a:cs typeface="Times New Roman" panose="02020603050405020304" pitchFamily="18" charset="0"/>
              </a:rPr>
              <a:t>Home page after login</a:t>
            </a:r>
            <a:endParaRPr lang="en-IN" sz="18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8931C02-8FFC-3153-EFEE-02A55BB136A7}"/>
              </a:ext>
            </a:extLst>
          </p:cNvPr>
          <p:cNvPicPr/>
          <p:nvPr/>
        </p:nvPicPr>
        <p:blipFill>
          <a:blip r:embed="rId2"/>
          <a:stretch>
            <a:fillRect/>
          </a:stretch>
        </p:blipFill>
        <p:spPr>
          <a:xfrm>
            <a:off x="400050" y="1295400"/>
            <a:ext cx="8343900" cy="4495800"/>
          </a:xfrm>
          <a:prstGeom prst="rect">
            <a:avLst/>
          </a:prstGeom>
        </p:spPr>
      </p:pic>
    </p:spTree>
    <p:extLst>
      <p:ext uri="{BB962C8B-B14F-4D97-AF65-F5344CB8AC3E}">
        <p14:creationId xmlns:p14="http://schemas.microsoft.com/office/powerpoint/2010/main" val="3962504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4ED1-D83D-57BA-5627-D0C886DA9D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40D1EF-9724-E15A-E0D4-B2E6449C6528}"/>
              </a:ext>
            </a:extLst>
          </p:cNvPr>
          <p:cNvSpPr txBox="1"/>
          <p:nvPr/>
        </p:nvSpPr>
        <p:spPr>
          <a:xfrm>
            <a:off x="304800" y="381000"/>
            <a:ext cx="8458200" cy="458074"/>
          </a:xfrm>
          <a:prstGeom prst="rect">
            <a:avLst/>
          </a:prstGeom>
          <a:noFill/>
        </p:spPr>
        <p:txBody>
          <a:bodyPr wrap="square">
            <a:spAutoFit/>
          </a:bodyPr>
          <a:lstStyle/>
          <a:p>
            <a:pPr>
              <a:lnSpc>
                <a:spcPct val="150000"/>
              </a:lnSpc>
              <a:spcAft>
                <a:spcPts val="1000"/>
              </a:spcAft>
            </a:pPr>
            <a:r>
              <a:rPr lang="en-IN" sz="1800" b="1" dirty="0">
                <a:latin typeface="Times New Roman" panose="02020603050405020304" pitchFamily="18" charset="0"/>
                <a:ea typeface="Calibri" panose="020F0502020204030204" pitchFamily="34" charset="0"/>
                <a:cs typeface="Times New Roman" panose="02020603050405020304" pitchFamily="18" charset="0"/>
              </a:rPr>
              <a:t>Upload: </a:t>
            </a:r>
            <a:r>
              <a:rPr lang="en-IN" sz="1800" dirty="0">
                <a:latin typeface="Times New Roman" panose="02020603050405020304" pitchFamily="18" charset="0"/>
                <a:cs typeface="Times New Roman" panose="02020603050405020304" pitchFamily="18" charset="0"/>
              </a:rPr>
              <a:t>Here you can upload the dataset and view the dataset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616953D2-4C25-9748-10F3-9A5422689516}"/>
              </a:ext>
            </a:extLst>
          </p:cNvPr>
          <p:cNvPicPr/>
          <p:nvPr/>
        </p:nvPicPr>
        <p:blipFill>
          <a:blip r:embed="rId2"/>
          <a:stretch>
            <a:fillRect/>
          </a:stretch>
        </p:blipFill>
        <p:spPr>
          <a:xfrm>
            <a:off x="762000" y="1295400"/>
            <a:ext cx="7620000" cy="4267200"/>
          </a:xfrm>
          <a:prstGeom prst="rect">
            <a:avLst/>
          </a:prstGeom>
        </p:spPr>
      </p:pic>
    </p:spTree>
    <p:extLst>
      <p:ext uri="{BB962C8B-B14F-4D97-AF65-F5344CB8AC3E}">
        <p14:creationId xmlns:p14="http://schemas.microsoft.com/office/powerpoint/2010/main" val="3658697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08D94B-375F-933A-0955-9FDAD1A6D224}"/>
              </a:ext>
            </a:extLst>
          </p:cNvPr>
          <p:cNvSpPr txBox="1"/>
          <p:nvPr/>
        </p:nvSpPr>
        <p:spPr>
          <a:xfrm>
            <a:off x="228600" y="685800"/>
            <a:ext cx="8686800" cy="646331"/>
          </a:xfrm>
          <a:prstGeom prst="rect">
            <a:avLst/>
          </a:prstGeom>
          <a:noFill/>
        </p:spPr>
        <p:txBody>
          <a:bodyPr wrap="square">
            <a:spAutoFit/>
          </a:bodyPr>
          <a:lstStyle/>
          <a:p>
            <a:pPr algn="just" defTabSz="685800" eaLnBrk="0" fontAlgn="base" hangingPunct="0">
              <a:spcBef>
                <a:spcPct val="0"/>
              </a:spcBef>
              <a:spcAft>
                <a:spcPct val="0"/>
              </a:spcAft>
              <a:buClrTx/>
            </a:pP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Here user have to select the model and email, password view the accuracy so that we know which algorithm is giving the highest accuracy.</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BAED667-57C3-52FD-8FD9-CA4BBAA6D34A}"/>
              </a:ext>
            </a:extLst>
          </p:cNvPr>
          <p:cNvPicPr/>
          <p:nvPr/>
        </p:nvPicPr>
        <p:blipFill>
          <a:blip r:embed="rId2"/>
          <a:stretch>
            <a:fillRect/>
          </a:stretch>
        </p:blipFill>
        <p:spPr>
          <a:xfrm>
            <a:off x="838200" y="1676400"/>
            <a:ext cx="7315200" cy="4267200"/>
          </a:xfrm>
          <a:prstGeom prst="rect">
            <a:avLst/>
          </a:prstGeom>
        </p:spPr>
      </p:pic>
    </p:spTree>
    <p:extLst>
      <p:ext uri="{BB962C8B-B14F-4D97-AF65-F5344CB8AC3E}">
        <p14:creationId xmlns:p14="http://schemas.microsoft.com/office/powerpoint/2010/main" val="4177910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A049-A258-3DD8-9B02-F7B02A9A07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3C015F-BDC7-3C97-9937-C703EA925CF0}"/>
              </a:ext>
            </a:extLst>
          </p:cNvPr>
          <p:cNvSpPr txBox="1"/>
          <p:nvPr/>
        </p:nvSpPr>
        <p:spPr>
          <a:xfrm>
            <a:off x="228600" y="381000"/>
            <a:ext cx="8686800" cy="878895"/>
          </a:xfrm>
          <a:prstGeom prst="rect">
            <a:avLst/>
          </a:prstGeom>
          <a:noFill/>
        </p:spPr>
        <p:txBody>
          <a:bodyPr wrap="square">
            <a:spAutoFit/>
          </a:bodyPr>
          <a:lstStyle/>
          <a:p>
            <a:pPr algn="just">
              <a:lnSpc>
                <a:spcPct val="150000"/>
              </a:lnSpc>
              <a:spcAft>
                <a:spcPts val="600"/>
              </a:spcAft>
            </a:pPr>
            <a:r>
              <a:rPr lang="en-US" sz="1800" b="1" dirty="0">
                <a:latin typeface="Times New Roman" panose="02020603050405020304" pitchFamily="18" charset="0"/>
                <a:ea typeface="Calibri" panose="020F0502020204030204" pitchFamily="34" charset="0"/>
                <a:cs typeface="Times New Roman" panose="02020603050405020304" pitchFamily="18" charset="0"/>
              </a:rPr>
              <a:t>Prediction:</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latin typeface="Times New Roman" panose="02020603050405020304" pitchFamily="18" charset="0"/>
                <a:ea typeface="Calibri" panose="020F0502020204030204" pitchFamily="34" charset="0"/>
              </a:rPr>
              <a:t>This is the prediction page here user have to provide values of a 20 features and our model is predict the final output.</a:t>
            </a:r>
            <a:endParaRPr lang="en-IN" sz="18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25EDCC9-5AF5-D114-32CD-B4B8CEEC9B54}"/>
              </a:ext>
            </a:extLst>
          </p:cNvPr>
          <p:cNvPicPr/>
          <p:nvPr/>
        </p:nvPicPr>
        <p:blipFill>
          <a:blip r:embed="rId2"/>
          <a:stretch>
            <a:fillRect/>
          </a:stretch>
        </p:blipFill>
        <p:spPr>
          <a:xfrm>
            <a:off x="762000" y="1676400"/>
            <a:ext cx="7734300" cy="4495800"/>
          </a:xfrm>
          <a:prstGeom prst="rect">
            <a:avLst/>
          </a:prstGeom>
        </p:spPr>
      </p:pic>
    </p:spTree>
    <p:extLst>
      <p:ext uri="{BB962C8B-B14F-4D97-AF65-F5344CB8AC3E}">
        <p14:creationId xmlns:p14="http://schemas.microsoft.com/office/powerpoint/2010/main" val="411655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RESULT EVALUATION</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E011E1D2-9DAB-F717-E086-3C10C46CC1FB}"/>
              </a:ext>
            </a:extLst>
          </p:cNvPr>
          <p:cNvSpPr txBox="1"/>
          <p:nvPr/>
        </p:nvSpPr>
        <p:spPr>
          <a:xfrm>
            <a:off x="381000" y="1219200"/>
            <a:ext cx="7086600" cy="507831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Prediction Outcome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classified beamforming results as </a:t>
            </a:r>
            <a:r>
              <a:rPr lang="en-IN" b="1" dirty="0">
                <a:latin typeface="Times New Roman" panose="02020603050405020304" pitchFamily="18" charset="0"/>
                <a:cs typeface="Times New Roman" panose="02020603050405020304" pitchFamily="18" charset="0"/>
              </a:rPr>
              <a:t>Success</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Failure</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Evaluation performed under </a:t>
            </a:r>
            <a:r>
              <a:rPr lang="en-IN" b="1" dirty="0">
                <a:latin typeface="Times New Roman" panose="02020603050405020304" pitchFamily="18" charset="0"/>
                <a:cs typeface="Times New Roman" panose="02020603050405020304" pitchFamily="18" charset="0"/>
              </a:rPr>
              <a:t>simulated federated learning rounds</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raw data shared; only </a:t>
            </a:r>
            <a:r>
              <a:rPr lang="en-IN" b="1" dirty="0">
                <a:latin typeface="Times New Roman" panose="02020603050405020304" pitchFamily="18" charset="0"/>
                <a:cs typeface="Times New Roman" panose="02020603050405020304" pitchFamily="18" charset="0"/>
              </a:rPr>
              <a:t>model parameters aggregated</a:t>
            </a: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Performance Results</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Decision Tree, Random Forest, XGBoost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100% accuracy</a:t>
            </a:r>
            <a:r>
              <a:rPr lang="en-IN" dirty="0">
                <a:latin typeface="Times New Roman" panose="02020603050405020304" pitchFamily="18" charset="0"/>
                <a:cs typeface="Times New Roman" panose="02020603050405020304" pitchFamily="18" charset="0"/>
              </a:rPr>
              <a:t> in predicting Success/Failure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FNN, CNN, MLP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High accuracy with minor misclassification</a:t>
            </a:r>
          </a:p>
          <a:p>
            <a:pPr>
              <a:buNone/>
            </a:pPr>
            <a:r>
              <a:rPr lang="en-IN" b="1" dirty="0">
                <a:latin typeface="Times New Roman" panose="02020603050405020304" pitchFamily="18" charset="0"/>
                <a:cs typeface="Times New Roman" panose="02020603050405020304" pitchFamily="18" charset="0"/>
              </a:rPr>
              <a:t>Confusion Matrix Insight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Tree-based models showed:</a:t>
            </a: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Zero false positives</a:t>
            </a:r>
            <a:endParaRPr lang="en-I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Zero false negatives</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Indicates </a:t>
            </a:r>
            <a:r>
              <a:rPr lang="en-IN" b="1" dirty="0">
                <a:latin typeface="Times New Roman" panose="02020603050405020304" pitchFamily="18" charset="0"/>
                <a:cs typeface="Times New Roman" panose="02020603050405020304" pitchFamily="18" charset="0"/>
              </a:rPr>
              <a:t>perfect beamforming decision reliability</a:t>
            </a: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Federated Learning Impact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Preserved </a:t>
            </a:r>
            <a:r>
              <a:rPr lang="en-IN" b="1" dirty="0">
                <a:latin typeface="Times New Roman" panose="02020603050405020304" pitchFamily="18" charset="0"/>
                <a:cs typeface="Times New Roman" panose="02020603050405020304" pitchFamily="18" charset="0"/>
              </a:rPr>
              <a:t>data privacy</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Reduced </a:t>
            </a:r>
            <a:r>
              <a:rPr lang="en-IN" b="1" dirty="0">
                <a:latin typeface="Times New Roman" panose="02020603050405020304" pitchFamily="18" charset="0"/>
                <a:cs typeface="Times New Roman" panose="02020603050405020304" pitchFamily="18" charset="0"/>
              </a:rPr>
              <a:t>communication overhead</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Maintained </a:t>
            </a:r>
            <a:r>
              <a:rPr lang="en-IN" b="1" dirty="0">
                <a:latin typeface="Times New Roman" panose="02020603050405020304" pitchFamily="18" charset="0"/>
                <a:cs typeface="Times New Roman" panose="02020603050405020304" pitchFamily="18" charset="0"/>
              </a:rPr>
              <a:t>centralized-model-level accuracy</a:t>
            </a:r>
            <a:endParaRPr lang="en-IN" dirty="0">
              <a:latin typeface="Times New Roman" panose="02020603050405020304" pitchFamily="18" charset="0"/>
              <a:cs typeface="Times New Roman" panose="02020603050405020304" pitchFamily="18" charset="0"/>
            </a:endParaRPr>
          </a:p>
        </p:txBody>
      </p:sp>
      <p:pic>
        <p:nvPicPr>
          <p:cNvPr id="6" name="Picture 5" descr="A diagram of a graph&#10;&#10;AI-generated content may be incorrect.">
            <a:extLst>
              <a:ext uri="{FF2B5EF4-FFF2-40B4-BE49-F238E27FC236}">
                <a16:creationId xmlns:a16="http://schemas.microsoft.com/office/drawing/2014/main" id="{E7F11971-D2E6-8012-9C54-4A00C45F2474}"/>
              </a:ext>
            </a:extLst>
          </p:cNvPr>
          <p:cNvPicPr>
            <a:picLocks noChangeAspect="1"/>
          </p:cNvPicPr>
          <p:nvPr/>
        </p:nvPicPr>
        <p:blipFill>
          <a:blip r:embed="rId2" cstate="print">
            <a:extLst>
              <a:ext uri="{28A0092B-C50C-407E-A947-70E740481C1C}">
                <a14:useLocalDpi xmlns:a14="http://schemas.microsoft.com/office/drawing/2010/main" val="0"/>
              </a:ext>
            </a:extLst>
          </a:blip>
          <a:srcRect l="434" t="4833" r="4282" b="10602"/>
          <a:stretch>
            <a:fillRect/>
          </a:stretch>
        </p:blipFill>
        <p:spPr>
          <a:xfrm>
            <a:off x="5105400" y="2438400"/>
            <a:ext cx="3748947" cy="2436612"/>
          </a:xfrm>
          <a:prstGeom prst="rect">
            <a:avLst/>
          </a:prstGeom>
        </p:spPr>
      </p:pic>
    </p:spTree>
    <p:extLst>
      <p:ext uri="{BB962C8B-B14F-4D97-AF65-F5344CB8AC3E}">
        <p14:creationId xmlns:p14="http://schemas.microsoft.com/office/powerpoint/2010/main" val="241016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647D78-38EC-F94F-DFD1-9EC8B1322E9E}"/>
              </a:ext>
            </a:extLst>
          </p:cNvPr>
          <p:cNvSpPr txBox="1"/>
          <p:nvPr/>
        </p:nvSpPr>
        <p:spPr>
          <a:xfrm>
            <a:off x="228600" y="533400"/>
            <a:ext cx="7608429"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Result</a:t>
            </a:r>
            <a:r>
              <a:rPr lang="en-US" dirty="0">
                <a:latin typeface="Times New Roman" panose="02020603050405020304" pitchFamily="18" charset="0"/>
                <a:cs typeface="Times New Roman" panose="02020603050405020304" pitchFamily="18" charset="0"/>
              </a:rPr>
              <a:t> :After prediction show whether the beamforming will success or failure.</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B248E81-5DF7-5866-B55F-A7DDEC75EB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85" y="1329378"/>
            <a:ext cx="8481230" cy="4628931"/>
          </a:xfrm>
          <a:prstGeom prst="rect">
            <a:avLst/>
          </a:prstGeom>
        </p:spPr>
      </p:pic>
    </p:spTree>
    <p:extLst>
      <p:ext uri="{BB962C8B-B14F-4D97-AF65-F5344CB8AC3E}">
        <p14:creationId xmlns:p14="http://schemas.microsoft.com/office/powerpoint/2010/main" val="1870111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sp>
        <p:nvSpPr>
          <p:cNvPr id="3" name="TextBox 2">
            <a:extLst>
              <a:ext uri="{FF2B5EF4-FFF2-40B4-BE49-F238E27FC236}">
                <a16:creationId xmlns:a16="http://schemas.microsoft.com/office/drawing/2014/main" id="{B9AE6F75-83C5-4A0B-F3BD-A12208D8BD18}"/>
              </a:ext>
            </a:extLst>
          </p:cNvPr>
          <p:cNvSpPr txBox="1"/>
          <p:nvPr/>
        </p:nvSpPr>
        <p:spPr>
          <a:xfrm>
            <a:off x="228600" y="1143000"/>
            <a:ext cx="8458200" cy="669055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proposes a </a:t>
            </a:r>
            <a:r>
              <a:rPr lang="en-US" b="1" dirty="0">
                <a:latin typeface="Times New Roman" panose="02020603050405020304" pitchFamily="18" charset="0"/>
                <a:cs typeface="Times New Roman" panose="02020603050405020304" pitchFamily="18" charset="0"/>
              </a:rPr>
              <a:t>privacy-preserving federated learning framework</a:t>
            </a:r>
            <a:r>
              <a:rPr lang="en-US" dirty="0">
                <a:latin typeface="Times New Roman" panose="02020603050405020304" pitchFamily="18" charset="0"/>
                <a:cs typeface="Times New Roman" panose="02020603050405020304" pitchFamily="18" charset="0"/>
              </a:rPr>
              <a:t> to predict </a:t>
            </a:r>
            <a:r>
              <a:rPr lang="en-US" b="1" dirty="0">
                <a:latin typeface="Times New Roman" panose="02020603050405020304" pitchFamily="18" charset="0"/>
                <a:cs typeface="Times New Roman" panose="02020603050405020304" pitchFamily="18" charset="0"/>
              </a:rPr>
              <a:t>6G beamforming success or failure</a:t>
            </a:r>
            <a:r>
              <a:rPr lang="en-US" dirty="0">
                <a:latin typeface="Times New Roman" panose="02020603050405020304" pitchFamily="18" charset="0"/>
                <a:cs typeface="Times New Roman" panose="02020603050405020304" pitchFamily="18" charset="0"/>
              </a:rPr>
              <a:t>. Traditional cloud-based ML systems face </a:t>
            </a:r>
            <a:r>
              <a:rPr lang="en-US" b="1" dirty="0">
                <a:latin typeface="Times New Roman" panose="02020603050405020304" pitchFamily="18" charset="0"/>
                <a:cs typeface="Times New Roman" panose="02020603050405020304" pitchFamily="18" charset="0"/>
              </a:rPr>
              <a:t>latency, scalability, and privacy issues</a:t>
            </a:r>
            <a:r>
              <a:rPr lang="en-US" dirty="0">
                <a:latin typeface="Times New Roman" panose="02020603050405020304" pitchFamily="18" charset="0"/>
                <a:cs typeface="Times New Roman" panose="02020603050405020304" pitchFamily="18" charset="0"/>
              </a:rPr>
              <a:t>, making them unsuitable for future 6G applications like </a:t>
            </a:r>
            <a:r>
              <a:rPr lang="en-US" b="1" dirty="0">
                <a:latin typeface="Times New Roman" panose="02020603050405020304" pitchFamily="18" charset="0"/>
                <a:cs typeface="Times New Roman" panose="02020603050405020304" pitchFamily="18" charset="0"/>
              </a:rPr>
              <a:t>autonomous mobility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holographic communication</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Our system uses </a:t>
            </a:r>
            <a:r>
              <a:rPr lang="en-US" b="1" dirty="0">
                <a:latin typeface="Times New Roman" panose="02020603050405020304" pitchFamily="18" charset="0"/>
                <a:cs typeface="Times New Roman" panose="02020603050405020304" pitchFamily="18" charset="0"/>
              </a:rPr>
              <a:t>Federated Learning</a:t>
            </a:r>
            <a:r>
              <a:rPr lang="en-US" dirty="0">
                <a:latin typeface="Times New Roman" panose="02020603050405020304" pitchFamily="18" charset="0"/>
                <a:cs typeface="Times New Roman" panose="02020603050405020304" pitchFamily="18" charset="0"/>
              </a:rPr>
              <a:t>, where </a:t>
            </a:r>
            <a:r>
              <a:rPr lang="en-US" b="1" dirty="0">
                <a:latin typeface="Times New Roman" panose="02020603050405020304" pitchFamily="18" charset="0"/>
                <a:cs typeface="Times New Roman" panose="02020603050405020304" pitchFamily="18" charset="0"/>
              </a:rPr>
              <a:t>edge devices train models locally</a:t>
            </a:r>
            <a:r>
              <a:rPr lang="en-US" dirty="0">
                <a:latin typeface="Times New Roman" panose="02020603050405020304" pitchFamily="18" charset="0"/>
                <a:cs typeface="Times New Roman" panose="02020603050405020304" pitchFamily="18" charset="0"/>
              </a:rPr>
              <a:t> and share </a:t>
            </a:r>
            <a:r>
              <a:rPr lang="en-US" b="1" dirty="0">
                <a:latin typeface="Times New Roman" panose="02020603050405020304" pitchFamily="18" charset="0"/>
                <a:cs typeface="Times New Roman" panose="02020603050405020304" pitchFamily="18" charset="0"/>
              </a:rPr>
              <a:t>only model parameters</a:t>
            </a:r>
            <a:r>
              <a:rPr lang="en-US" dirty="0">
                <a:latin typeface="Times New Roman" panose="02020603050405020304" pitchFamily="18" charset="0"/>
                <a:cs typeface="Times New Roman" panose="02020603050405020304" pitchFamily="18" charset="0"/>
              </a:rPr>
              <a:t>, ensuring data privacy. The framework is implemented using </a:t>
            </a:r>
            <a:r>
              <a:rPr lang="en-US" b="1" dirty="0">
                <a:latin typeface="Times New Roman" panose="02020603050405020304" pitchFamily="18" charset="0"/>
                <a:cs typeface="Times New Roman" panose="02020603050405020304" pitchFamily="18" charset="0"/>
              </a:rPr>
              <a:t>Python Flask</a:t>
            </a:r>
            <a:r>
              <a:rPr lang="en-US" dirty="0">
                <a:latin typeface="Times New Roman" panose="02020603050405020304" pitchFamily="18" charset="0"/>
                <a:cs typeface="Times New Roman" panose="02020603050405020304" pitchFamily="18" charset="0"/>
              </a:rPr>
              <a:t> with features such as </a:t>
            </a:r>
            <a:r>
              <a:rPr lang="en-US" b="1" dirty="0">
                <a:latin typeface="Times New Roman" panose="02020603050405020304" pitchFamily="18" charset="0"/>
                <a:cs typeface="Times New Roman" panose="02020603050405020304" pitchFamily="18" charset="0"/>
              </a:rPr>
              <a:t>secure authentication, dataset upload, model selection, and real-time prediction</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Six ML models are supported: </a:t>
            </a:r>
            <a:r>
              <a:rPr lang="en-US" b="1" dirty="0">
                <a:latin typeface="Times New Roman" panose="02020603050405020304" pitchFamily="18" charset="0"/>
                <a:cs typeface="Times New Roman" panose="02020603050405020304" pitchFamily="18" charset="0"/>
              </a:rPr>
              <a:t>Random Forest, XGBoost, FNN, CNN, MLP, and Decision Tree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Tree-based models achieved 100% accuracy</a:t>
            </a:r>
            <a:r>
              <a:rPr lang="en-US" dirty="0">
                <a:latin typeface="Times New Roman" panose="02020603050405020304" pitchFamily="18" charset="0"/>
                <a:cs typeface="Times New Roman" panose="02020603050405020304" pitchFamily="18" charset="0"/>
              </a:rPr>
              <a:t> in simulations, proving their effectiveness for beamforming classification</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REFERENCES</a:t>
            </a:r>
          </a:p>
        </p:txBody>
      </p:sp>
      <p:sp>
        <p:nvSpPr>
          <p:cNvPr id="3" name="TextBox 2">
            <a:extLst>
              <a:ext uri="{FF2B5EF4-FFF2-40B4-BE49-F238E27FC236}">
                <a16:creationId xmlns:a16="http://schemas.microsoft.com/office/drawing/2014/main" id="{B0DF1F20-DED2-D8B5-7B9C-FF9075EC9FB0}"/>
              </a:ext>
            </a:extLst>
          </p:cNvPr>
          <p:cNvSpPr txBox="1"/>
          <p:nvPr/>
        </p:nvSpPr>
        <p:spPr>
          <a:xfrm>
            <a:off x="304800" y="1219200"/>
            <a:ext cx="8534400" cy="5078313"/>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McMahan, B., Moore, E., Ramage, D., Hampson, S., &amp; y Arcas, B. A. (2017). </a:t>
            </a:r>
            <a:r>
              <a:rPr lang="en-IN" i="1" dirty="0">
                <a:latin typeface="Times New Roman" panose="02020603050405020304" pitchFamily="18" charset="0"/>
                <a:cs typeface="Times New Roman" panose="02020603050405020304" pitchFamily="18" charset="0"/>
              </a:rPr>
              <a:t>Communication-Efficient Learning of Deep Networks from Decentralized Data</a:t>
            </a:r>
            <a:r>
              <a:rPr lang="en-IN" dirty="0">
                <a:latin typeface="Times New Roman" panose="02020603050405020304" pitchFamily="18" charset="0"/>
                <a:cs typeface="Times New Roman" panose="02020603050405020304" pitchFamily="18" charset="0"/>
              </a:rPr>
              <a:t>. Proceedings of the 20th International Conference on Artificial Intelligence and Statistics (AISTATS), PMLR. </a:t>
            </a:r>
            <a:r>
              <a:rPr lang="en-IN" u="sng" dirty="0">
                <a:latin typeface="Times New Roman" panose="02020603050405020304" pitchFamily="18" charset="0"/>
                <a:cs typeface="Times New Roman" panose="02020603050405020304" pitchFamily="18" charset="0"/>
                <a:hlinkClick r:id="rId2"/>
              </a:rPr>
              <a:t>https://arxiv.org/abs/1602.05629</a:t>
            </a:r>
            <a:endParaRPr lang="en-IN" dirty="0">
              <a:latin typeface="Times New Roman" panose="02020603050405020304" pitchFamily="18" charset="0"/>
              <a:cs typeface="Times New Roman" panose="02020603050405020304" pitchFamily="18" charset="0"/>
            </a:endParaRPr>
          </a:p>
          <a:p>
            <a:pPr algn="just"/>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Kairouz, P., McMahan, H. B., et al. (2021). </a:t>
            </a:r>
            <a:r>
              <a:rPr lang="en-IN" i="1" dirty="0">
                <a:latin typeface="Times New Roman" panose="02020603050405020304" pitchFamily="18" charset="0"/>
                <a:cs typeface="Times New Roman" panose="02020603050405020304" pitchFamily="18" charset="0"/>
              </a:rPr>
              <a:t>Advances and Open Problems in Federated Learning</a:t>
            </a:r>
            <a:r>
              <a:rPr lang="en-IN" dirty="0">
                <a:latin typeface="Times New Roman" panose="02020603050405020304" pitchFamily="18" charset="0"/>
                <a:cs typeface="Times New Roman" panose="02020603050405020304" pitchFamily="18" charset="0"/>
              </a:rPr>
              <a:t>. Foundations and Trends in Machine Learning, 14(1–2), 1–210. </a:t>
            </a:r>
            <a:r>
              <a:rPr lang="en-IN" u="sng" dirty="0">
                <a:latin typeface="Times New Roman" panose="02020603050405020304" pitchFamily="18" charset="0"/>
                <a:cs typeface="Times New Roman" panose="02020603050405020304" pitchFamily="18" charset="0"/>
                <a:hlinkClick r:id="rId3"/>
              </a:rPr>
              <a:t>https://doi.org/10.1561/2200000083</a:t>
            </a:r>
            <a:endParaRPr lang="en-IN" dirty="0">
              <a:latin typeface="Times New Roman" panose="02020603050405020304" pitchFamily="18" charset="0"/>
              <a:cs typeface="Times New Roman" panose="02020603050405020304" pitchFamily="18" charset="0"/>
            </a:endParaRPr>
          </a:p>
          <a:p>
            <a:pPr algn="just"/>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Zhu, H., Liu, Y., Zhou, Z., &amp; Zhang, Y. (2020). </a:t>
            </a:r>
            <a:r>
              <a:rPr lang="en-IN" i="1" dirty="0">
                <a:latin typeface="Times New Roman" panose="02020603050405020304" pitchFamily="18" charset="0"/>
                <a:cs typeface="Times New Roman" panose="02020603050405020304" pitchFamily="18" charset="0"/>
              </a:rPr>
              <a:t>Toward Efficient and Privacy-Preserving Federated Deep Learning</a:t>
            </a:r>
            <a:r>
              <a:rPr lang="en-IN" dirty="0">
                <a:latin typeface="Times New Roman" panose="02020603050405020304" pitchFamily="18" charset="0"/>
                <a:cs typeface="Times New Roman" panose="02020603050405020304" pitchFamily="18" charset="0"/>
              </a:rPr>
              <a:t>. IEEE Network, 34(5), 16–22. </a:t>
            </a:r>
            <a:r>
              <a:rPr lang="en-IN" u="sng" dirty="0">
                <a:latin typeface="Times New Roman" panose="02020603050405020304" pitchFamily="18" charset="0"/>
                <a:cs typeface="Times New Roman" panose="02020603050405020304" pitchFamily="18" charset="0"/>
                <a:hlinkClick r:id="rId4"/>
              </a:rPr>
              <a:t>https://doi.org/10.1109/MNET.001.1900664</a:t>
            </a:r>
            <a:endParaRPr lang="en-IN" dirty="0">
              <a:latin typeface="Times New Roman" panose="02020603050405020304" pitchFamily="18" charset="0"/>
              <a:cs typeface="Times New Roman" panose="02020603050405020304" pitchFamily="18" charset="0"/>
            </a:endParaRPr>
          </a:p>
          <a:p>
            <a:pPr algn="just"/>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Niknam, S., Sharma, P. K., Anpalagan, A., Choudhury, N., &amp; Pandey, A. (2020). </a:t>
            </a:r>
            <a:r>
              <a:rPr lang="en-IN" i="1" dirty="0">
                <a:latin typeface="Times New Roman" panose="02020603050405020304" pitchFamily="18" charset="0"/>
                <a:cs typeface="Times New Roman" panose="02020603050405020304" pitchFamily="18" charset="0"/>
              </a:rPr>
              <a:t>Federated Learning for Wireless Communications: Motivation, Opportunities, and Challenges</a:t>
            </a:r>
            <a:r>
              <a:rPr lang="en-IN" dirty="0">
                <a:latin typeface="Times New Roman" panose="02020603050405020304" pitchFamily="18" charset="0"/>
                <a:cs typeface="Times New Roman" panose="02020603050405020304" pitchFamily="18" charset="0"/>
              </a:rPr>
              <a:t>. IEEE Communications Magazine, 58(6), 46–51. </a:t>
            </a:r>
            <a:r>
              <a:rPr lang="en-IN" u="sng" dirty="0">
                <a:latin typeface="Times New Roman" panose="02020603050405020304" pitchFamily="18" charset="0"/>
                <a:cs typeface="Times New Roman" panose="02020603050405020304" pitchFamily="18" charset="0"/>
                <a:hlinkClick r:id="rId5"/>
              </a:rPr>
              <a:t>https://doi.org/10.1109/MCOM.001.1900831</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64500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270</TotalTime>
  <Words>1248</Words>
  <Application>Microsoft Office PowerPoint</Application>
  <PresentationFormat>On-screen Show (4:3)</PresentationFormat>
  <Paragraphs>107</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AND MACHINE LEARNING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MADESH RISHI</cp:lastModifiedBy>
  <cp:revision>40</cp:revision>
  <dcterms:created xsi:type="dcterms:W3CDTF">2006-08-16T00:00:00Z</dcterms:created>
  <dcterms:modified xsi:type="dcterms:W3CDTF">2026-01-06T01:24:36Z</dcterms:modified>
</cp:coreProperties>
</file>