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72" r:id="rId5"/>
    <p:sldId id="275" r:id="rId6"/>
    <p:sldId id="274" r:id="rId7"/>
    <p:sldId id="276" r:id="rId8"/>
    <p:sldId id="277" r:id="rId9"/>
    <p:sldId id="278" r:id="rId10"/>
    <p:sldId id="273" r:id="rId11"/>
    <p:sldId id="263" r:id="rId12"/>
    <p:sldId id="264" r:id="rId13"/>
    <p:sldId id="271"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p:cViewPr>
        <p:scale>
          <a:sx n="100" d="100"/>
          <a:sy n="100" d="100"/>
        </p:scale>
        <p:origin x="830" y="-3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933B943-989A-439E-AB6A-01F7232604A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6D4E7476-A4D2-48A5-A456-0B5D1EAC1E6E}">
      <dgm:prSet custT="1">
        <dgm:style>
          <a:lnRef idx="0">
            <a:scrgbClr r="0" g="0" b="0"/>
          </a:lnRef>
          <a:fillRef idx="0">
            <a:scrgbClr r="0" g="0" b="0"/>
          </a:fillRef>
          <a:effectRef idx="0">
            <a:scrgbClr r="0" g="0" b="0"/>
          </a:effectRef>
          <a:fontRef idx="minor">
            <a:schemeClr val="dk1"/>
          </a:fontRef>
        </dgm:style>
      </dgm:prSet>
      <dgm:spPr>
        <a:noFill/>
        <a:ln>
          <a:noFill/>
        </a:ln>
      </dgm:spPr>
      <dgm:t>
        <a:bodyPr/>
        <a:lstStyle/>
        <a:p>
          <a:pPr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This study demonstrates the efficacy of a machine learning-based framework for early preterm birth prediction using Electrohysterogram (EHG) signals. By combining a custom device with the TPEHGDB dataset and extracting key features like Count Contraction and Entropy, we addressed the critical need for accurate maternal health monitoring. The application of SMOTE-ENN balanced the dataset, while models like Random Forest and Decision Tree achieved superior performance, validated by 10-Fold Cross-Validation. Metrics such as accuracy, precision, and F1-score underscored the robustness of these models. The findings highlight the potential of integrating biomedical signal processing with machine learning to support timely clinical interventions, offering a promising tool to reduce preterm birth complications and enhance neonatal outcomes globally.</a:t>
          </a:r>
          <a:endParaRPr lang="en-IN" sz="1800" dirty="0">
            <a:solidFill>
              <a:schemeClr val="tx1"/>
            </a:solidFill>
            <a:latin typeface="Times New Roman" panose="02020603050405020304" pitchFamily="18" charset="0"/>
            <a:cs typeface="Times New Roman" panose="02020603050405020304" pitchFamily="18" charset="0"/>
          </a:endParaRPr>
        </a:p>
      </dgm:t>
    </dgm:pt>
    <dgm:pt modelId="{AA6303D3-E1E2-4544-8D12-1769882E0D19}" type="parTrans" cxnId="{D16C7939-6F56-4E77-A85B-CF2537DD46D8}">
      <dgm:prSet/>
      <dgm:spPr/>
      <dgm:t>
        <a:bodyPr/>
        <a:lstStyle/>
        <a:p>
          <a:endParaRPr lang="en-IN"/>
        </a:p>
      </dgm:t>
    </dgm:pt>
    <dgm:pt modelId="{5B8D82AF-A9E1-4DC6-B6CA-49204CE8091E}" type="sibTrans" cxnId="{D16C7939-6F56-4E77-A85B-CF2537DD46D8}">
      <dgm:prSet/>
      <dgm:spPr/>
      <dgm:t>
        <a:bodyPr/>
        <a:lstStyle/>
        <a:p>
          <a:endParaRPr lang="en-IN"/>
        </a:p>
      </dgm:t>
    </dgm:pt>
    <dgm:pt modelId="{3FBED282-DE04-4C5D-A77C-19CB1569A839}" type="pres">
      <dgm:prSet presAssocID="{F933B943-989A-439E-AB6A-01F7232604AB}" presName="linear" presStyleCnt="0">
        <dgm:presLayoutVars>
          <dgm:animLvl val="lvl"/>
          <dgm:resizeHandles val="exact"/>
        </dgm:presLayoutVars>
      </dgm:prSet>
      <dgm:spPr/>
    </dgm:pt>
    <dgm:pt modelId="{9C5A0C70-ACBF-4504-8DB4-E648888CC135}" type="pres">
      <dgm:prSet presAssocID="{6D4E7476-A4D2-48A5-A456-0B5D1EAC1E6E}" presName="parentText" presStyleLbl="node1" presStyleIdx="0" presStyleCnt="1" custScaleY="102326">
        <dgm:presLayoutVars>
          <dgm:chMax val="0"/>
          <dgm:bulletEnabled val="1"/>
        </dgm:presLayoutVars>
      </dgm:prSet>
      <dgm:spPr/>
    </dgm:pt>
  </dgm:ptLst>
  <dgm:cxnLst>
    <dgm:cxn modelId="{C168432C-D86E-448A-B53F-238D72F60DAC}" type="presOf" srcId="{6D4E7476-A4D2-48A5-A456-0B5D1EAC1E6E}" destId="{9C5A0C70-ACBF-4504-8DB4-E648888CC135}" srcOrd="0" destOrd="0" presId="urn:microsoft.com/office/officeart/2005/8/layout/vList2"/>
    <dgm:cxn modelId="{D16C7939-6F56-4E77-A85B-CF2537DD46D8}" srcId="{F933B943-989A-439E-AB6A-01F7232604AB}" destId="{6D4E7476-A4D2-48A5-A456-0B5D1EAC1E6E}" srcOrd="0" destOrd="0" parTransId="{AA6303D3-E1E2-4544-8D12-1769882E0D19}" sibTransId="{5B8D82AF-A9E1-4DC6-B6CA-49204CE8091E}"/>
    <dgm:cxn modelId="{2363CFDB-1910-4C61-99DD-46E4EFA7201E}" type="presOf" srcId="{F933B943-989A-439E-AB6A-01F7232604AB}" destId="{3FBED282-DE04-4C5D-A77C-19CB1569A839}" srcOrd="0" destOrd="0" presId="urn:microsoft.com/office/officeart/2005/8/layout/vList2"/>
    <dgm:cxn modelId="{A4DC1A34-CC86-4A48-8D1B-0000D738C2AF}" type="presParOf" srcId="{3FBED282-DE04-4C5D-A77C-19CB1569A839}" destId="{9C5A0C70-ACBF-4504-8DB4-E648888CC13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5A0C70-ACBF-4504-8DB4-E648888CC135}">
      <dsp:nvSpPr>
        <dsp:cNvPr id="0" name=""/>
        <dsp:cNvSpPr/>
      </dsp:nvSpPr>
      <dsp:spPr>
        <a:xfrm>
          <a:off x="0" y="1926575"/>
          <a:ext cx="8673296" cy="514299"/>
        </a:xfrm>
        <a:prstGeom prst="roundRect">
          <a:avLst/>
        </a:prstGeom>
        <a:noFill/>
        <a:ln>
          <a:noFill/>
        </a:ln>
        <a:effectLst/>
      </dsp:spPr>
      <dsp:style>
        <a:lnRef idx="0">
          <a:scrgbClr r="0" g="0" b="0"/>
        </a:lnRef>
        <a:fillRef idx="0">
          <a:scrgbClr r="0" g="0" b="0"/>
        </a:fillRef>
        <a:effectRef idx="0">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just" defTabSz="800100">
            <a:lnSpc>
              <a:spcPct val="150000"/>
            </a:lnSpc>
            <a:spcBef>
              <a:spcPct val="0"/>
            </a:spcBef>
            <a:spcAft>
              <a:spcPct val="35000"/>
            </a:spcAft>
            <a:buNone/>
          </a:pPr>
          <a:r>
            <a:rPr lang="en-US" sz="1800" kern="1200" dirty="0">
              <a:solidFill>
                <a:schemeClr val="tx1"/>
              </a:solidFill>
              <a:latin typeface="Times New Roman" panose="02020603050405020304" pitchFamily="18" charset="0"/>
              <a:cs typeface="Times New Roman" panose="02020603050405020304" pitchFamily="18" charset="0"/>
            </a:rPr>
            <a:t>This study demonstrates the efficacy of a machine learning-based framework for early preterm birth prediction using Electrohysterogram (EHG) signals. By combining a custom device with the TPEHGDB dataset and extracting key features like Count Contraction and Entropy, we addressed the critical need for accurate maternal health monitoring. The application of SMOTE-ENN balanced the dataset, while models like Random Forest and Decision Tree achieved superior performance, validated by 10-Fold Cross-Validation. Metrics such as accuracy, precision, and F1-score underscored the robustness of these models. The findings highlight the potential of integrating biomedical signal processing with machine learning to support timely clinical interventions, offering a promising tool to reduce preterm birth complications and enhance neonatal outcomes globally.</a:t>
          </a:r>
          <a:endParaRPr lang="en-IN" sz="1800" kern="1200" dirty="0">
            <a:solidFill>
              <a:schemeClr val="tx1"/>
            </a:solidFill>
            <a:latin typeface="Times New Roman" panose="02020603050405020304" pitchFamily="18" charset="0"/>
            <a:cs typeface="Times New Roman" panose="02020603050405020304" pitchFamily="18" charset="0"/>
          </a:endParaRPr>
        </a:p>
      </dsp:txBody>
      <dsp:txXfrm>
        <a:off x="25106" y="1951681"/>
        <a:ext cx="8623084" cy="46408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C2FB23-109B-407C-B572-2D1D5619E7D3}" type="datetimeFigureOut">
              <a:rPr lang="en-IN" smtClean="0"/>
              <a:t>09-12-2025</a:t>
            </a:fld>
            <a:endParaRPr lang="en-IN"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64D3D9-2B85-4EA1-9D50-CD07E81F6139}" type="slidenum">
              <a:rPr lang="en-IN" smtClean="0"/>
              <a:t>‹#›</a:t>
            </a:fld>
            <a:endParaRPr lang="en-IN" dirty="0"/>
          </a:p>
        </p:txBody>
      </p:sp>
    </p:spTree>
    <p:extLst>
      <p:ext uri="{BB962C8B-B14F-4D97-AF65-F5344CB8AC3E}">
        <p14:creationId xmlns:p14="http://schemas.microsoft.com/office/powerpoint/2010/main" val="70812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C64D3D9-2B85-4EA1-9D50-CD07E81F6139}" type="slidenum">
              <a:rPr lang="en-IN" smtClean="0"/>
              <a:t>2</a:t>
            </a:fld>
            <a:endParaRPr lang="en-IN" dirty="0"/>
          </a:p>
        </p:txBody>
      </p:sp>
    </p:spTree>
    <p:extLst>
      <p:ext uri="{BB962C8B-B14F-4D97-AF65-F5344CB8AC3E}">
        <p14:creationId xmlns:p14="http://schemas.microsoft.com/office/powerpoint/2010/main" val="20266872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12/9/2025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0199"/>
            <a:ext cx="8229600" cy="609601"/>
          </a:xfrm>
        </p:spPr>
        <p:txBody>
          <a:bodyPr>
            <a:normAutofit fontScale="90000"/>
          </a:bodyPr>
          <a:lstStyle/>
          <a:p>
            <a:pPr algn="ctr">
              <a:lnSpc>
                <a:spcPct val="115000"/>
              </a:lnSpc>
              <a:spcAft>
                <a:spcPts val="1000"/>
              </a:spcAft>
            </a:pPr>
            <a:r>
              <a:rPr lang="en-US" sz="1800" b="1" dirty="0">
                <a:effectLst/>
                <a:latin typeface="Times New Roman" panose="02020603050405020304" pitchFamily="18" charset="0"/>
                <a:ea typeface="Arial" panose="020B0604020202020204" pitchFamily="34" charset="0"/>
                <a:cs typeface="Times New Roman" panose="02020603050405020304" pitchFamily="18" charset="0"/>
              </a:rPr>
              <a:t>SIDDHARTH INSTITUTE OF ENGINEERING &amp; TECHNOLOGY</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 (AUTONOMOUS)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(Approved by AICTE, New Delhi &amp; Affiliated to JNTUA, Ananthapuramu)</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(Accredited by NBA for Civil, EEE, Mech., ECE &amp; CSE</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Accredited by NAAC with ‘A+’ Grade)</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Puttur -517583,Tirupathi District, A.P. (India)</a:t>
            </a:r>
            <a:b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t>DEPARTMENT OF COMPUTER SCIENCE AND ENGINEERING</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latin typeface="Times New Roman" panose="02020603050405020304" pitchFamily="18" charset="0"/>
                <a:ea typeface="Arial Black" panose="020B0A04020102020204" pitchFamily="34" charset="0"/>
                <a:cs typeface="Times New Roman" panose="02020603050405020304" pitchFamily="18" charset="0"/>
              </a:rPr>
              <a:t>CSE (ARTIFICIAL INTELLIGENCE)</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t>Academic Year 2025-26</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br>
              <a:rPr lang="en-IN" sz="1800" dirty="0">
                <a:effectLst/>
                <a:latin typeface="Calibri" panose="020F0502020204030204" pitchFamily="34" charset="0"/>
                <a:ea typeface="Calibri" panose="020F0502020204030204" pitchFamily="34" charset="0"/>
                <a:cs typeface="Times New Roman" panose="02020603050405020304" pitchFamily="18" charset="0"/>
              </a:rPr>
            </a:b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26" name="Picture 2" descr="Siddharth Institute of Engineering &amp; Technology - [SIETK], Puttur -  Admissions, Contact, Website, Facilities 2021-2022"/>
          <p:cNvPicPr>
            <a:picLocks noChangeAspect="1" noChangeArrowheads="1"/>
          </p:cNvPicPr>
          <p:nvPr/>
        </p:nvPicPr>
        <p:blipFill>
          <a:blip r:embed="rId2"/>
          <a:srcRect/>
          <a:stretch>
            <a:fillRect/>
          </a:stretch>
        </p:blipFill>
        <p:spPr bwMode="auto">
          <a:xfrm>
            <a:off x="213915" y="528235"/>
            <a:ext cx="990599" cy="866775"/>
          </a:xfrm>
          <a:prstGeom prst="rect">
            <a:avLst/>
          </a:prstGeom>
          <a:noFill/>
        </p:spPr>
      </p:pic>
      <p:sp>
        <p:nvSpPr>
          <p:cNvPr id="6" name="Rectangle 5"/>
          <p:cNvSpPr/>
          <p:nvPr/>
        </p:nvSpPr>
        <p:spPr>
          <a:xfrm>
            <a:off x="533400" y="3955704"/>
            <a:ext cx="2286000" cy="369332"/>
          </a:xfrm>
          <a:prstGeom prst="rect">
            <a:avLst/>
          </a:prstGeom>
        </p:spPr>
        <p:txBody>
          <a:bodyPr wrap="square">
            <a:spAutoFit/>
          </a:bodyPr>
          <a:lstStyle/>
          <a:p>
            <a:pPr lvl="0">
              <a:spcBef>
                <a:spcPct val="0"/>
              </a:spcBef>
              <a:defRPr/>
            </a:pP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Batch Details</a:t>
            </a:r>
          </a:p>
        </p:txBody>
      </p:sp>
      <p:sp>
        <p:nvSpPr>
          <p:cNvPr id="9" name="Rectangle 8"/>
          <p:cNvSpPr/>
          <p:nvPr/>
        </p:nvSpPr>
        <p:spPr>
          <a:xfrm>
            <a:off x="2743200" y="2639839"/>
            <a:ext cx="3020379" cy="461665"/>
          </a:xfrm>
          <a:prstGeom prst="rect">
            <a:avLst/>
          </a:prstGeom>
        </p:spPr>
        <p:txBody>
          <a:bodyPr wrap="none">
            <a:spAutoFit/>
          </a:bodyPr>
          <a:lstStyle/>
          <a:p>
            <a:r>
              <a:rPr lang="en-US" sz="2400" dirty="0">
                <a:latin typeface="Times New Roman" pitchFamily="18" charset="0"/>
                <a:cs typeface="Times New Roman" pitchFamily="18" charset="0"/>
              </a:rPr>
              <a:t>    Project First Review</a:t>
            </a:r>
            <a:endParaRPr lang="en-US" sz="2400" dirty="0"/>
          </a:p>
        </p:txBody>
      </p:sp>
      <p:sp>
        <p:nvSpPr>
          <p:cNvPr id="10" name="Rectangle 9"/>
          <p:cNvSpPr/>
          <p:nvPr/>
        </p:nvSpPr>
        <p:spPr>
          <a:xfrm>
            <a:off x="709214" y="2957613"/>
            <a:ext cx="7939552" cy="984885"/>
          </a:xfrm>
          <a:prstGeom prst="rect">
            <a:avLst/>
          </a:prstGeom>
        </p:spPr>
        <p:txBody>
          <a:bodyPr wrap="square">
            <a:spAutoFit/>
          </a:bodyPr>
          <a:lstStyle/>
          <a:p>
            <a:r>
              <a:rPr lang="en-US" sz="2000" b="1" dirty="0">
                <a:latin typeface="Times New Roman" pitchFamily="18" charset="0"/>
                <a:cs typeface="Times New Roman" pitchFamily="18" charset="0"/>
              </a:rPr>
              <a:t>Title of Project</a:t>
            </a:r>
          </a:p>
          <a:p>
            <a:pPr marL="1704975" indent="-1617663">
              <a:tabLst>
                <a:tab pos="360363" algn="l"/>
              </a:tabLst>
            </a:pPr>
            <a:r>
              <a:rPr lang="en-US" sz="2000" dirty="0">
                <a:latin typeface="Times New Roman" pitchFamily="18" charset="0"/>
                <a:cs typeface="Times New Roman" pitchFamily="18" charset="0"/>
              </a:rPr>
              <a:t>                         </a:t>
            </a:r>
            <a:r>
              <a:rPr lang="en-US" b="1" dirty="0">
                <a:latin typeface="Times New Roman" pitchFamily="18" charset="0"/>
                <a:cs typeface="Times New Roman" pitchFamily="18" charset="0"/>
              </a:rPr>
              <a:t>Towards Green and Trustworthy 6G:Federated Learning     Approaches for Robust Privacy</a:t>
            </a:r>
            <a:endParaRPr lang="en-US" sz="2000" b="1" dirty="0">
              <a:latin typeface="Times New Roman" pitchFamily="18" charset="0"/>
              <a:cs typeface="Times New Roman" pitchFamily="18" charset="0"/>
            </a:endParaRPr>
          </a:p>
        </p:txBody>
      </p:sp>
      <p:graphicFrame>
        <p:nvGraphicFramePr>
          <p:cNvPr id="5" name="Table 10">
            <a:extLst>
              <a:ext uri="{FF2B5EF4-FFF2-40B4-BE49-F238E27FC236}">
                <a16:creationId xmlns:a16="http://schemas.microsoft.com/office/drawing/2014/main" id="{9726D40B-79FA-5C9C-B1C6-5162A7D08BEA}"/>
              </a:ext>
            </a:extLst>
          </p:cNvPr>
          <p:cNvGraphicFramePr>
            <a:graphicFrameLocks noGrp="1"/>
          </p:cNvGraphicFramePr>
          <p:nvPr>
            <p:extLst>
              <p:ext uri="{D42A27DB-BD31-4B8C-83A1-F6EECF244321}">
                <p14:modId xmlns:p14="http://schemas.microsoft.com/office/powerpoint/2010/main" val="4068157534"/>
              </p:ext>
            </p:extLst>
          </p:nvPr>
        </p:nvGraphicFramePr>
        <p:xfrm>
          <a:off x="747248" y="4352622"/>
          <a:ext cx="7547440" cy="2098404"/>
        </p:xfrm>
        <a:graphic>
          <a:graphicData uri="http://schemas.openxmlformats.org/drawingml/2006/table">
            <a:tbl>
              <a:tblPr firstRow="1" bandRow="1">
                <a:tableStyleId>{F5AB1C69-6EDB-4FF4-983F-18BD219EF322}</a:tableStyleId>
              </a:tblPr>
              <a:tblGrid>
                <a:gridCol w="843280">
                  <a:extLst>
                    <a:ext uri="{9D8B030D-6E8A-4147-A177-3AD203B41FA5}">
                      <a16:colId xmlns:a16="http://schemas.microsoft.com/office/drawing/2014/main" val="3454361256"/>
                    </a:ext>
                  </a:extLst>
                </a:gridCol>
                <a:gridCol w="2284095">
                  <a:extLst>
                    <a:ext uri="{9D8B030D-6E8A-4147-A177-3AD203B41FA5}">
                      <a16:colId xmlns:a16="http://schemas.microsoft.com/office/drawing/2014/main" val="115167568"/>
                    </a:ext>
                  </a:extLst>
                </a:gridCol>
                <a:gridCol w="2057865">
                  <a:extLst>
                    <a:ext uri="{9D8B030D-6E8A-4147-A177-3AD203B41FA5}">
                      <a16:colId xmlns:a16="http://schemas.microsoft.com/office/drawing/2014/main" val="2541411041"/>
                    </a:ext>
                  </a:extLst>
                </a:gridCol>
                <a:gridCol w="2362200">
                  <a:extLst>
                    <a:ext uri="{9D8B030D-6E8A-4147-A177-3AD203B41FA5}">
                      <a16:colId xmlns:a16="http://schemas.microsoft.com/office/drawing/2014/main" val="247963892"/>
                    </a:ext>
                  </a:extLst>
                </a:gridCol>
              </a:tblGrid>
              <a:tr h="300837">
                <a:tc>
                  <a:txBody>
                    <a:bodyPr/>
                    <a:lstStyle/>
                    <a:p>
                      <a:r>
                        <a:rPr lang="en-US" dirty="0">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REG NO</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NAME</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INTERNAL GUIDE</a:t>
                      </a:r>
                      <a:endParaRPr lang="en-IN" dirty="0">
                        <a:latin typeface="Times New Roman" panose="02020603050405020304" pitchFamily="18" charset="0"/>
                        <a:cs typeface="Times New Roman" panose="02020603050405020304" pitchFamily="18" charset="0"/>
                      </a:endParaRPr>
                    </a:p>
                  </a:txBody>
                  <a:tcPr>
                    <a:solidFill>
                      <a:srgbClr val="7030A0"/>
                    </a:solidFill>
                  </a:tcPr>
                </a:tc>
                <a:extLst>
                  <a:ext uri="{0D108BD9-81ED-4DB2-BD59-A6C34878D82A}">
                    <a16:rowId xmlns:a16="http://schemas.microsoft.com/office/drawing/2014/main" val="1859435710"/>
                  </a:ext>
                </a:extLst>
              </a:tr>
              <a:tr h="433161">
                <a:tc>
                  <a:txBody>
                    <a:bodyPr/>
                    <a:lstStyle/>
                    <a:p>
                      <a:pPr algn="ctr"/>
                      <a:r>
                        <a:rPr lang="en-US" b="1" dirty="0"/>
                        <a:t>1</a:t>
                      </a:r>
                      <a:endParaRPr lang="en-IN" b="1" dirty="0"/>
                    </a:p>
                  </a:txBody>
                  <a:tcPr/>
                </a:tc>
                <a:tc>
                  <a:txBody>
                    <a:bodyPr/>
                    <a:lstStyle/>
                    <a:p>
                      <a:r>
                        <a:rPr lang="en-US" b="1" dirty="0"/>
                        <a:t>22F61A3114</a:t>
                      </a:r>
                      <a:endParaRPr lang="en-IN" b="1" dirty="0"/>
                    </a:p>
                  </a:txBody>
                  <a:tcPr/>
                </a:tc>
                <a:tc>
                  <a:txBody>
                    <a:bodyPr/>
                    <a:lstStyle/>
                    <a:p>
                      <a:r>
                        <a:rPr lang="en-US" b="1" dirty="0"/>
                        <a:t>C S MADESH</a:t>
                      </a:r>
                      <a:endParaRPr lang="en-IN" b="1" dirty="0"/>
                    </a:p>
                  </a:txBody>
                  <a:tcPr/>
                </a:tc>
                <a:tc rowSpan="3">
                  <a:txBody>
                    <a:bodyPr/>
                    <a:lstStyle/>
                    <a:p>
                      <a:pPr algn="ctr"/>
                      <a:endParaRPr lang="en-US" b="1" dirty="0"/>
                    </a:p>
                    <a:p>
                      <a:pPr algn="ctr"/>
                      <a:endParaRPr lang="en-US" b="1" dirty="0"/>
                    </a:p>
                    <a:p>
                      <a:pPr algn="ctr"/>
                      <a:r>
                        <a:rPr lang="en-US" b="1" dirty="0"/>
                        <a:t>K EZHILARASI</a:t>
                      </a:r>
                      <a:endParaRPr lang="en-IN" b="1" dirty="0"/>
                    </a:p>
                  </a:txBody>
                  <a:tcPr/>
                </a:tc>
                <a:extLst>
                  <a:ext uri="{0D108BD9-81ED-4DB2-BD59-A6C34878D82A}">
                    <a16:rowId xmlns:a16="http://schemas.microsoft.com/office/drawing/2014/main" val="3672826067"/>
                  </a:ext>
                </a:extLst>
              </a:tr>
              <a:tr h="433161">
                <a:tc>
                  <a:txBody>
                    <a:bodyPr/>
                    <a:lstStyle/>
                    <a:p>
                      <a:pPr algn="ctr"/>
                      <a:r>
                        <a:rPr lang="en-US" b="1" dirty="0"/>
                        <a:t>2</a:t>
                      </a:r>
                      <a:endParaRPr lang="en-IN" b="1" dirty="0"/>
                    </a:p>
                  </a:txBody>
                  <a:tcPr/>
                </a:tc>
                <a:tc>
                  <a:txBody>
                    <a:bodyPr/>
                    <a:lstStyle/>
                    <a:p>
                      <a:r>
                        <a:rPr lang="en-US" b="1" dirty="0"/>
                        <a:t>22F61A3119</a:t>
                      </a:r>
                      <a:endParaRPr lang="en-IN" b="1" dirty="0"/>
                    </a:p>
                  </a:txBody>
                  <a:tcPr/>
                </a:tc>
                <a:tc>
                  <a:txBody>
                    <a:bodyPr/>
                    <a:lstStyle/>
                    <a:p>
                      <a:r>
                        <a:rPr lang="en-US" b="1" dirty="0"/>
                        <a:t>D MOUNIKA</a:t>
                      </a:r>
                      <a:endParaRPr lang="en-IN" b="1" dirty="0"/>
                    </a:p>
                  </a:txBody>
                  <a:tcPr/>
                </a:tc>
                <a:tc vMerge="1">
                  <a:txBody>
                    <a:bodyPr/>
                    <a:lstStyle/>
                    <a:p>
                      <a:endParaRPr lang="en-IN" dirty="0"/>
                    </a:p>
                  </a:txBody>
                  <a:tcPr/>
                </a:tc>
                <a:extLst>
                  <a:ext uri="{0D108BD9-81ED-4DB2-BD59-A6C34878D82A}">
                    <a16:rowId xmlns:a16="http://schemas.microsoft.com/office/drawing/2014/main" val="873735473"/>
                  </a:ext>
                </a:extLst>
              </a:tr>
              <a:tr h="433161">
                <a:tc>
                  <a:txBody>
                    <a:bodyPr/>
                    <a:lstStyle/>
                    <a:p>
                      <a:pPr algn="ctr"/>
                      <a:r>
                        <a:rPr lang="en-US" b="1" dirty="0"/>
                        <a:t>3</a:t>
                      </a:r>
                      <a:endParaRPr lang="en-IN" b="1" dirty="0"/>
                    </a:p>
                  </a:txBody>
                  <a:tcPr/>
                </a:tc>
                <a:tc>
                  <a:txBody>
                    <a:bodyPr/>
                    <a:lstStyle/>
                    <a:p>
                      <a:r>
                        <a:rPr lang="en-US" b="1" dirty="0"/>
                        <a:t>23F65A3101</a:t>
                      </a:r>
                      <a:endParaRPr lang="en-IN" b="1" dirty="0"/>
                    </a:p>
                  </a:txBody>
                  <a:tcPr/>
                </a:tc>
                <a:tc>
                  <a:txBody>
                    <a:bodyPr/>
                    <a:lstStyle/>
                    <a:p>
                      <a:r>
                        <a:rPr lang="en-US" b="1" dirty="0"/>
                        <a:t>K ADIMURTHY</a:t>
                      </a:r>
                      <a:endParaRPr lang="en-IN" b="1" dirty="0"/>
                    </a:p>
                  </a:txBody>
                  <a:tcPr/>
                </a:tc>
                <a:tc vMerge="1">
                  <a:txBody>
                    <a:bodyPr/>
                    <a:lstStyle/>
                    <a:p>
                      <a:endParaRPr lang="en-IN" dirty="0"/>
                    </a:p>
                  </a:txBody>
                  <a:tcPr/>
                </a:tc>
                <a:extLst>
                  <a:ext uri="{0D108BD9-81ED-4DB2-BD59-A6C34878D82A}">
                    <a16:rowId xmlns:a16="http://schemas.microsoft.com/office/drawing/2014/main" val="2383131700"/>
                  </a:ext>
                </a:extLst>
              </a:tr>
              <a:tr h="433161">
                <a:tc>
                  <a:txBody>
                    <a:bodyPr/>
                    <a:lstStyle/>
                    <a:p>
                      <a:pPr algn="ctr"/>
                      <a:r>
                        <a:rPr lang="en-US" b="1" dirty="0"/>
                        <a:t>4</a:t>
                      </a:r>
                      <a:endParaRPr lang="en-IN" b="1" dirty="0"/>
                    </a:p>
                  </a:txBody>
                  <a:tcPr/>
                </a:tc>
                <a:tc>
                  <a:txBody>
                    <a:bodyPr/>
                    <a:lstStyle/>
                    <a:p>
                      <a:r>
                        <a:rPr lang="en-US" b="1" dirty="0"/>
                        <a:t>23F65A3106</a:t>
                      </a:r>
                      <a:endParaRPr lang="en-IN" b="1" dirty="0"/>
                    </a:p>
                  </a:txBody>
                  <a:tcPr/>
                </a:tc>
                <a:tc>
                  <a:txBody>
                    <a:bodyPr/>
                    <a:lstStyle/>
                    <a:p>
                      <a:r>
                        <a:rPr lang="en-US" b="1" dirty="0"/>
                        <a:t>T VIJENDRA</a:t>
                      </a:r>
                      <a:endParaRPr lang="en-IN" b="1" dirty="0"/>
                    </a:p>
                  </a:txBody>
                  <a:tcPr/>
                </a:tc>
                <a:tc>
                  <a:txBody>
                    <a:bodyPr/>
                    <a:lstStyle/>
                    <a:p>
                      <a:endParaRPr lang="en-IN" b="1" dirty="0"/>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u="sng" dirty="0">
                <a:latin typeface="Times New Roman" pitchFamily="18" charset="0"/>
                <a:cs typeface="Times New Roman" pitchFamily="18" charset="0"/>
              </a:rPr>
              <a:t>OBJECTIVE</a:t>
            </a:r>
          </a:p>
        </p:txBody>
      </p:sp>
      <p:sp>
        <p:nvSpPr>
          <p:cNvPr id="3" name="TextBox 2">
            <a:extLst>
              <a:ext uri="{FF2B5EF4-FFF2-40B4-BE49-F238E27FC236}">
                <a16:creationId xmlns:a16="http://schemas.microsoft.com/office/drawing/2014/main" id="{726A93DD-2CE7-502C-EBF7-EDF548EABED2}"/>
              </a:ext>
            </a:extLst>
          </p:cNvPr>
          <p:cNvSpPr txBox="1"/>
          <p:nvPr/>
        </p:nvSpPr>
        <p:spPr>
          <a:xfrm>
            <a:off x="381000" y="1054951"/>
            <a:ext cx="8153400" cy="5770811"/>
          </a:xfrm>
          <a:prstGeom prst="rect">
            <a:avLst/>
          </a:prstGeom>
          <a:noFill/>
        </p:spPr>
        <p:txBody>
          <a:bodyPr wrap="square" rtlCol="0">
            <a:spAutoFit/>
          </a:bodyPr>
          <a:lstStyle/>
          <a:p>
            <a:pPr marL="285750" indent="-2880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objective of this project is to design and implement a privacy-preserving, decentralized machine learning system tailored specifically for the demanding environment of 6G networks.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With the help of Federated Learning (FL), the system enables multiple edge devices to collaboratively train machine learning models without sharing their raw data, thereby preserving user privacy and reducing network congestion.</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project involves developing a secure and interactive web application using Flask, where users can register, upload beamforming datasets, select from multiple machine learning algorithms, and receive real-time prediction results. The backend simulates FL rounds by averaging encrypted model weight updates from virtual edge clients.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Ultimately, the system demonstrates the feasibility and benefits of Federated Learning for future 6G-enabled intelligent infrastructure.</a:t>
            </a:r>
          </a:p>
          <a:p>
            <a:pPr marL="285750" indent="-285750">
              <a:buFont typeface="Arial" panose="020B0604020202020204" pitchFamily="34" charset="0"/>
              <a:buChar char="•"/>
            </a:pP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01516" y="152400"/>
            <a:ext cx="8229600" cy="8683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u="sng"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ABSTRACT</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1" u="sng"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lang="en-US" sz="4400" i="1" u="sng" dirty="0">
              <a:latin typeface="Times New Roman" pitchFamily="18" charset="0"/>
              <a:ea typeface="+mj-ea"/>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1" u="sng"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lang="en-US" sz="4400" i="1" u="sng" dirty="0">
              <a:latin typeface="Times New Roman" pitchFamily="18" charset="0"/>
              <a:ea typeface="+mj-ea"/>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1" u="sng"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4" name="TextBox 3">
            <a:extLst>
              <a:ext uri="{FF2B5EF4-FFF2-40B4-BE49-F238E27FC236}">
                <a16:creationId xmlns:a16="http://schemas.microsoft.com/office/drawing/2014/main" id="{E6FFA22A-F80F-4CDB-F116-439D300E55EC}"/>
              </a:ext>
            </a:extLst>
          </p:cNvPr>
          <p:cNvSpPr txBox="1"/>
          <p:nvPr/>
        </p:nvSpPr>
        <p:spPr>
          <a:xfrm>
            <a:off x="363416" y="1044208"/>
            <a:ext cx="8305800" cy="5069145"/>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next generation of wireless communication, 6G, is expected to interconnect billions of ultra‑intelligent devices and deliver sub‑millisecond latency for immersive applications such as holographic telepresence and autonomous mobility. </a:t>
            </a:r>
          </a:p>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Traditional cloud‑centric AI pipelines cannot scale to this setting because continuous raw‑data transfer overloads backhaul links and exposes sensitive user information.To address this gap, our project implements a </a:t>
            </a:r>
            <a:r>
              <a:rPr lang="en-IN" b="1" dirty="0">
                <a:latin typeface="Times New Roman" panose="02020603050405020304" pitchFamily="18" charset="0"/>
                <a:cs typeface="Times New Roman" panose="02020603050405020304" pitchFamily="18" charset="0"/>
              </a:rPr>
              <a:t>federated‑learning (FL) framework</a:t>
            </a:r>
            <a:r>
              <a:rPr lang="en-IN" dirty="0">
                <a:latin typeface="Times New Roman" panose="02020603050405020304" pitchFamily="18" charset="0"/>
                <a:cs typeface="Times New Roman" panose="02020603050405020304" pitchFamily="18" charset="0"/>
              </a:rPr>
              <a:t> in which edge devices train models locally and share only encrypted weight updates with a coordinating server.</a:t>
            </a:r>
          </a:p>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We prototype the concept in a Flask web application that allows users to register, upload sample beamforming datasets, choose among six candidate algorithms (Random Forest, FNN, CNN, MLP, XGBoost, Decision Tree), and receive real‑time prediction feedback on 6G beam‑forming success</a:t>
            </a:r>
            <a:r>
              <a:rPr lang="en-IN" sz="20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CBB71F-142A-EDEC-BB7D-DD67B1F8E66E}"/>
              </a:ext>
            </a:extLst>
          </p:cNvPr>
          <p:cNvSpPr txBox="1"/>
          <p:nvPr/>
        </p:nvSpPr>
        <p:spPr>
          <a:xfrm>
            <a:off x="1905000" y="29308"/>
            <a:ext cx="4572000" cy="769441"/>
          </a:xfrm>
          <a:prstGeom prst="rect">
            <a:avLst/>
          </a:prstGeom>
          <a:noFill/>
        </p:spPr>
        <p:txBody>
          <a:bodyPr wrap="square">
            <a:sp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sng"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MODULES</a:t>
            </a:r>
          </a:p>
        </p:txBody>
      </p:sp>
      <p:sp>
        <p:nvSpPr>
          <p:cNvPr id="4" name="TextBox 3">
            <a:extLst>
              <a:ext uri="{FF2B5EF4-FFF2-40B4-BE49-F238E27FC236}">
                <a16:creationId xmlns:a16="http://schemas.microsoft.com/office/drawing/2014/main" id="{D0A3F0CF-D4AB-DAF9-366D-57D7FEB6F7D2}"/>
              </a:ext>
            </a:extLst>
          </p:cNvPr>
          <p:cNvSpPr txBox="1"/>
          <p:nvPr/>
        </p:nvSpPr>
        <p:spPr>
          <a:xfrm>
            <a:off x="381000" y="972529"/>
            <a:ext cx="8610600" cy="1477328"/>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REGISTRATION:</a:t>
            </a:r>
          </a:p>
          <a:p>
            <a:pPr marL="87313" indent="-87313" algn="just"/>
            <a:r>
              <a:rPr lang="en-US" dirty="0">
                <a:latin typeface="Times New Roman" panose="02020603050405020304" pitchFamily="18" charset="0"/>
                <a:cs typeface="Times New Roman" panose="02020603050405020304" pitchFamily="18" charset="0"/>
              </a:rPr>
              <a:t>  Users can create accounts by submitting their personal details.The system ensures that email addresses are unique, and passwords are confirmed to prevent errors.Once validated, user credentials are securely stored in the MySQL database,protecting user data.</a:t>
            </a:r>
          </a:p>
          <a:p>
            <a:pPr marL="360363" indent="-360363" algn="just"/>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8FF4E62-24C3-ACD7-F434-15F8BA10AD9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9600" y="2209800"/>
            <a:ext cx="7718181" cy="4209916"/>
          </a:xfrm>
          <a:prstGeom prst="rect">
            <a:avLst/>
          </a:prstGeom>
        </p:spPr>
      </p:pic>
    </p:spTree>
    <p:extLst>
      <p:ext uri="{BB962C8B-B14F-4D97-AF65-F5344CB8AC3E}">
        <p14:creationId xmlns:p14="http://schemas.microsoft.com/office/powerpoint/2010/main" val="2583772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05375D-8A7F-163A-B580-99F62D201B0B}"/>
              </a:ext>
            </a:extLst>
          </p:cNvPr>
          <p:cNvSpPr txBox="1"/>
          <p:nvPr/>
        </p:nvSpPr>
        <p:spPr>
          <a:xfrm>
            <a:off x="304800" y="228600"/>
            <a:ext cx="8382000" cy="2308324"/>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LOGIN AND SESSION HANDLING:</a:t>
            </a:r>
          </a:p>
          <a:p>
            <a:pPr algn="just"/>
            <a:endParaRPr lang="en-US" b="1" dirty="0">
              <a:latin typeface="Times New Roman" panose="02020603050405020304" pitchFamily="18" charset="0"/>
              <a:cs typeface="Times New Roman" panose="02020603050405020304" pitchFamily="18" charset="0"/>
            </a:endParaRPr>
          </a:p>
          <a:p>
            <a:pPr marL="87313" indent="273050" algn="just"/>
            <a:r>
              <a:rPr lang="en-US" dirty="0">
                <a:latin typeface="Times New Roman" panose="02020603050405020304" pitchFamily="18" charset="0"/>
                <a:cs typeface="Times New Roman" panose="02020603050405020304" pitchFamily="18" charset="0"/>
              </a:rPr>
              <a:t>Users log in with their credentials, after which a session is created to allow access to protected routes like /home. This ensures that only authenticated users can access model predictions and other sensitive functionalities.</a:t>
            </a:r>
          </a:p>
          <a:p>
            <a:pPr marL="360363" algn="just"/>
            <a:endParaRPr lang="en-US" dirty="0">
              <a:latin typeface="Times New Roman" panose="02020603050405020304" pitchFamily="18" charset="0"/>
              <a:cs typeface="Times New Roman" panose="02020603050405020304" pitchFamily="18" charset="0"/>
            </a:endParaRPr>
          </a:p>
          <a:p>
            <a:pPr marL="360363" indent="-360363" algn="just"/>
            <a:endParaRPr lang="en-IN" dirty="0">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F4E5D5DE-839B-7DCA-6E6E-00846328E9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8408" y="1981200"/>
            <a:ext cx="8204200" cy="4475018"/>
          </a:xfrm>
          <a:prstGeom prst="rect">
            <a:avLst/>
          </a:prstGeom>
        </p:spPr>
      </p:pic>
    </p:spTree>
    <p:extLst>
      <p:ext uri="{BB962C8B-B14F-4D97-AF65-F5344CB8AC3E}">
        <p14:creationId xmlns:p14="http://schemas.microsoft.com/office/powerpoint/2010/main" val="2715484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043E0055-4D28-35C3-5B5A-CF539A8010D5}"/>
              </a:ext>
            </a:extLst>
          </p:cNvPr>
          <p:cNvSpPr txBox="1"/>
          <p:nvPr/>
        </p:nvSpPr>
        <p:spPr>
          <a:xfrm>
            <a:off x="304800" y="321663"/>
            <a:ext cx="8229600" cy="2031325"/>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DATA UPLOAD AND ENTRY:</a:t>
            </a:r>
          </a:p>
          <a:p>
            <a:pPr algn="just"/>
            <a:endParaRPr lang="en-US" b="1" dirty="0">
              <a:latin typeface="Times New Roman" panose="02020603050405020304" pitchFamily="18" charset="0"/>
              <a:cs typeface="Times New Roman" panose="02020603050405020304" pitchFamily="18" charset="0"/>
            </a:endParaRPr>
          </a:p>
          <a:p>
            <a:pPr marL="87313" algn="just"/>
            <a:r>
              <a:rPr lang="en-US" dirty="0">
                <a:latin typeface="Times New Roman" panose="02020603050405020304" pitchFamily="18" charset="0"/>
                <a:cs typeface="Times New Roman" panose="02020603050405020304" pitchFamily="18" charset="0"/>
              </a:rPr>
              <a:t>    Users can upload their datasets via the /upload route or input data manually through forms. Once uploaded, the data is parsed and previewed for validation, making it easy to ensure data quality before it’s processed by the model.</a:t>
            </a:r>
          </a:p>
          <a:p>
            <a:pPr marL="360363" algn="just"/>
            <a:endParaRPr lang="en-US" dirty="0">
              <a:latin typeface="Times New Roman" panose="02020603050405020304" pitchFamily="18" charset="0"/>
              <a:cs typeface="Times New Roman" panose="02020603050405020304" pitchFamily="18" charset="0"/>
            </a:endParaRPr>
          </a:p>
          <a:p>
            <a:endParaRPr lang="en-IN" dirty="0"/>
          </a:p>
        </p:txBody>
      </p:sp>
      <p:pic>
        <p:nvPicPr>
          <p:cNvPr id="12" name="Picture 11">
            <a:extLst>
              <a:ext uri="{FF2B5EF4-FFF2-40B4-BE49-F238E27FC236}">
                <a16:creationId xmlns:a16="http://schemas.microsoft.com/office/drawing/2014/main" id="{CC71C221-A00B-C76E-5F24-DF08FE4E56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4431" y="2026769"/>
            <a:ext cx="8121650" cy="4533014"/>
          </a:xfrm>
          <a:prstGeom prst="rect">
            <a:avLst/>
          </a:prstGeom>
        </p:spPr>
      </p:pic>
    </p:spTree>
    <p:extLst>
      <p:ext uri="{BB962C8B-B14F-4D97-AF65-F5344CB8AC3E}">
        <p14:creationId xmlns:p14="http://schemas.microsoft.com/office/powerpoint/2010/main" val="1687265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FC3B49-7E85-F3DB-BDDC-2319375BE05F}"/>
              </a:ext>
            </a:extLst>
          </p:cNvPr>
          <p:cNvSpPr txBox="1"/>
          <p:nvPr/>
        </p:nvSpPr>
        <p:spPr>
          <a:xfrm>
            <a:off x="304800" y="457200"/>
            <a:ext cx="8382000" cy="1754326"/>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MODEL SELECTION AND COMPARISON:</a:t>
            </a:r>
          </a:p>
          <a:p>
            <a:pPr marL="273050" indent="-273050" algn="just">
              <a:tabLst>
                <a:tab pos="0" algn="l"/>
              </a:tabLst>
            </a:pPr>
            <a:endParaRPr lang="en-US" b="1" dirty="0">
              <a:latin typeface="Times New Roman" panose="02020603050405020304" pitchFamily="18" charset="0"/>
              <a:cs typeface="Times New Roman" panose="02020603050405020304" pitchFamily="18" charset="0"/>
            </a:endParaRPr>
          </a:p>
          <a:p>
            <a:pPr marL="176213" indent="-176213" algn="just"/>
            <a:r>
              <a:rPr lang="en-US" dirty="0">
                <a:latin typeface="Times New Roman" panose="02020603050405020304" pitchFamily="18" charset="0"/>
                <a:cs typeface="Times New Roman" panose="02020603050405020304" pitchFamily="18" charset="0"/>
              </a:rPr>
              <a:t>       Users can select their desired predictive model and view the corresponding accuracy metrics. This comparison allows users to make well-informed decisions when selecting the most suitable model for their task.</a:t>
            </a:r>
          </a:p>
          <a:p>
            <a:endParaRPr lang="en-IN" dirty="0"/>
          </a:p>
        </p:txBody>
      </p:sp>
      <p:pic>
        <p:nvPicPr>
          <p:cNvPr id="4" name="Picture 3">
            <a:extLst>
              <a:ext uri="{FF2B5EF4-FFF2-40B4-BE49-F238E27FC236}">
                <a16:creationId xmlns:a16="http://schemas.microsoft.com/office/drawing/2014/main" id="{2DB8875E-4373-C194-F9DA-6F6DA04D3BC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1981200"/>
            <a:ext cx="7924800" cy="4322618"/>
          </a:xfrm>
          <a:prstGeom prst="rect">
            <a:avLst/>
          </a:prstGeom>
        </p:spPr>
      </p:pic>
    </p:spTree>
    <p:extLst>
      <p:ext uri="{BB962C8B-B14F-4D97-AF65-F5344CB8AC3E}">
        <p14:creationId xmlns:p14="http://schemas.microsoft.com/office/powerpoint/2010/main" val="716497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C5B238-E74B-3EB2-EE11-EB35298F126F}"/>
              </a:ext>
            </a:extLst>
          </p:cNvPr>
          <p:cNvSpPr txBox="1"/>
          <p:nvPr/>
        </p:nvSpPr>
        <p:spPr>
          <a:xfrm>
            <a:off x="457200" y="457200"/>
            <a:ext cx="8305800" cy="2031325"/>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PREDICTION OUTPUT VISUALIZATION:</a:t>
            </a:r>
          </a:p>
          <a:p>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Once data is submitted, the system outputs a prediction in the form of either "Success (Beamforming will work)" or "Failure (Beamforming will fail)", displayed in an intuitive and well-organized HTML template for easy reading and interpretation.</a:t>
            </a:r>
          </a:p>
          <a:p>
            <a:pPr marL="623888" algn="just"/>
            <a:endParaRPr lang="en-US" dirty="0">
              <a:latin typeface="Times New Roman" panose="02020603050405020304" pitchFamily="18" charset="0"/>
              <a:cs typeface="Times New Roman" panose="02020603050405020304" pitchFamily="18" charset="0"/>
            </a:endParaRPr>
          </a:p>
          <a:p>
            <a:endParaRPr lang="en-IN" dirty="0"/>
          </a:p>
        </p:txBody>
      </p:sp>
      <p:pic>
        <p:nvPicPr>
          <p:cNvPr id="6" name="Picture 5">
            <a:extLst>
              <a:ext uri="{FF2B5EF4-FFF2-40B4-BE49-F238E27FC236}">
                <a16:creationId xmlns:a16="http://schemas.microsoft.com/office/drawing/2014/main" id="{BECD34DC-93AD-FA90-52A3-C04E97AE075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2057400"/>
            <a:ext cx="8204200" cy="4475018"/>
          </a:xfrm>
          <a:prstGeom prst="rect">
            <a:avLst/>
          </a:prstGeom>
        </p:spPr>
      </p:pic>
    </p:spTree>
    <p:extLst>
      <p:ext uri="{BB962C8B-B14F-4D97-AF65-F5344CB8AC3E}">
        <p14:creationId xmlns:p14="http://schemas.microsoft.com/office/powerpoint/2010/main" val="3784339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251799-3F29-CBCE-0AE1-B3D89FB0FAC8}"/>
              </a:ext>
            </a:extLst>
          </p:cNvPr>
          <p:cNvSpPr txBox="1"/>
          <p:nvPr/>
        </p:nvSpPr>
        <p:spPr>
          <a:xfrm>
            <a:off x="330200" y="381000"/>
            <a:ext cx="8534400" cy="1200329"/>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LOGOUT AND SESSION TERMINATION:</a:t>
            </a:r>
          </a:p>
          <a:p>
            <a:pPr algn="just"/>
            <a:endParaRPr lang="en-US" b="1" dirty="0">
              <a:latin typeface="Times New Roman" panose="02020603050405020304" pitchFamily="18" charset="0"/>
              <a:cs typeface="Times New Roman" panose="02020603050405020304" pitchFamily="18" charset="0"/>
            </a:endParaRPr>
          </a:p>
          <a:p>
            <a:pPr algn="just">
              <a:tabLst>
                <a:tab pos="176213" algn="l"/>
              </a:tabLst>
            </a:pPr>
            <a:r>
              <a:rPr lang="en-US" dirty="0">
                <a:latin typeface="Times New Roman" panose="02020603050405020304" pitchFamily="18" charset="0"/>
                <a:cs typeface="Times New Roman" panose="02020603050405020304" pitchFamily="18" charset="0"/>
              </a:rPr>
              <a:t>            The logout functionality ensures that sessions are terminated securely, protecting user data and preventing unauthorized access to sensitive predictions or configurations.</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B18949E-7074-BF78-682F-E05C253A4E7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0200" y="1905000"/>
            <a:ext cx="8483600" cy="4627418"/>
          </a:xfrm>
          <a:prstGeom prst="rect">
            <a:avLst/>
          </a:prstGeom>
        </p:spPr>
      </p:pic>
    </p:spTree>
    <p:extLst>
      <p:ext uri="{BB962C8B-B14F-4D97-AF65-F5344CB8AC3E}">
        <p14:creationId xmlns:p14="http://schemas.microsoft.com/office/powerpoint/2010/main" val="1159784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02A22E4-C209-E956-B1A6-108391FCF0AC}"/>
              </a:ext>
            </a:extLst>
          </p:cNvPr>
          <p:cNvSpPr txBox="1"/>
          <p:nvPr/>
        </p:nvSpPr>
        <p:spPr>
          <a:xfrm>
            <a:off x="285750" y="152400"/>
            <a:ext cx="8343900" cy="769441"/>
          </a:xfrm>
          <a:prstGeom prst="rect">
            <a:avLst/>
          </a:prstGeom>
          <a:noFill/>
        </p:spPr>
        <p:txBody>
          <a:bodyPr wrap="square">
            <a:sp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sng"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TECHNOLOGICAL APPROACH</a:t>
            </a:r>
          </a:p>
        </p:txBody>
      </p:sp>
      <p:sp>
        <p:nvSpPr>
          <p:cNvPr id="6" name="TextBox 5">
            <a:extLst>
              <a:ext uri="{FF2B5EF4-FFF2-40B4-BE49-F238E27FC236}">
                <a16:creationId xmlns:a16="http://schemas.microsoft.com/office/drawing/2014/main" id="{D2D4CF78-5CEB-F110-D5B3-7491D572E030}"/>
              </a:ext>
            </a:extLst>
          </p:cNvPr>
          <p:cNvSpPr txBox="1"/>
          <p:nvPr/>
        </p:nvSpPr>
        <p:spPr>
          <a:xfrm>
            <a:off x="457200" y="1066800"/>
            <a:ext cx="8001000" cy="6463308"/>
          </a:xfrm>
          <a:prstGeom prst="rect">
            <a:avLst/>
          </a:prstGeom>
          <a:noFill/>
        </p:spPr>
        <p:txBody>
          <a:bodyPr wrap="square" rtlCol="0">
            <a:spAutoFit/>
          </a:bodyPr>
          <a:lstStyle/>
          <a:p>
            <a:pPr algn="just"/>
            <a:r>
              <a:rPr lang="en-IN" b="1" dirty="0">
                <a:latin typeface="Times New Roman" panose="02020603050405020304" pitchFamily="18" charset="0"/>
                <a:cs typeface="Times New Roman" panose="02020603050405020304" pitchFamily="18" charset="0"/>
              </a:rPr>
              <a:t>SERVER SIDE SCRIPTING TECHNOLOGIES</a:t>
            </a:r>
          </a:p>
          <a:p>
            <a:pPr algn="just"/>
            <a:r>
              <a:rPr lang="en-IN" b="1" dirty="0">
                <a:latin typeface="Times New Roman" panose="02020603050405020304" pitchFamily="18" charset="0"/>
                <a:cs typeface="Times New Roman" panose="02020603050405020304" pitchFamily="18" charset="0"/>
              </a:rPr>
              <a:t>HTML, CSS, Bootstrap &amp; JavaScript</a:t>
            </a:r>
          </a:p>
          <a:p>
            <a:pPr algn="just"/>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HTML</a:t>
            </a:r>
            <a:r>
              <a:rPr lang="en-IN" dirty="0">
                <a:latin typeface="Times New Roman" panose="02020603050405020304" pitchFamily="18" charset="0"/>
                <a:cs typeface="Times New Roman" panose="02020603050405020304" pitchFamily="18" charset="0"/>
              </a:rPr>
              <a:t>: Builds web interface structure.</a:t>
            </a:r>
          </a:p>
          <a:p>
            <a:pPr algn="just"/>
            <a:r>
              <a:rPr lang="en-IN" dirty="0">
                <a:latin typeface="Times New Roman" panose="02020603050405020304" pitchFamily="18" charset="0"/>
                <a:cs typeface="Times New Roman" panose="02020603050405020304" pitchFamily="18" charset="0"/>
              </a:rPr>
              <a:t>-</a:t>
            </a:r>
            <a:r>
              <a:rPr lang="en-IN" b="1" dirty="0">
                <a:latin typeface="Times New Roman" panose="02020603050405020304" pitchFamily="18" charset="0"/>
                <a:cs typeface="Times New Roman" panose="02020603050405020304" pitchFamily="18" charset="0"/>
              </a:rPr>
              <a:t> CSS</a:t>
            </a:r>
            <a:r>
              <a:rPr lang="en-IN" dirty="0">
                <a:latin typeface="Times New Roman" panose="02020603050405020304" pitchFamily="18" charset="0"/>
                <a:cs typeface="Times New Roman" panose="02020603050405020304" pitchFamily="18" charset="0"/>
              </a:rPr>
              <a:t>: Styles the UI for readability.</a:t>
            </a:r>
          </a:p>
          <a:p>
            <a:pPr algn="just"/>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Bootstrap</a:t>
            </a:r>
            <a:r>
              <a:rPr lang="en-IN" dirty="0">
                <a:latin typeface="Times New Roman" panose="02020603050405020304" pitchFamily="18" charset="0"/>
                <a:cs typeface="Times New Roman" panose="02020603050405020304" pitchFamily="18" charset="0"/>
              </a:rPr>
              <a:t>: Provides responsive dashboards.</a:t>
            </a:r>
          </a:p>
          <a:p>
            <a:pPr algn="just"/>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JavaScript</a:t>
            </a:r>
            <a:r>
              <a:rPr lang="en-IN" dirty="0">
                <a:latin typeface="Times New Roman" panose="02020603050405020304" pitchFamily="18" charset="0"/>
                <a:cs typeface="Times New Roman" panose="02020603050405020304" pitchFamily="18" charset="0"/>
              </a:rPr>
              <a:t>: Enables dynamic FL status updates and charts.</a:t>
            </a:r>
          </a:p>
          <a:p>
            <a:pPr marL="285750" indent="-285750" algn="just">
              <a:buFontTx/>
              <a:buChar char="-"/>
            </a:pPr>
            <a:endParaRPr lang="en-IN"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PYTHON PROGRAMMING LANGUAGE</a:t>
            </a:r>
          </a:p>
          <a:p>
            <a:pPr algn="just"/>
            <a:r>
              <a:rPr lang="en-US" dirty="0">
                <a:latin typeface="Times New Roman" panose="02020603050405020304" pitchFamily="18" charset="0"/>
                <a:cs typeface="Times New Roman" panose="02020603050405020304" pitchFamily="18" charset="0"/>
              </a:rPr>
              <a:t>- Core language for FL algorithms.</a:t>
            </a:r>
          </a:p>
          <a:p>
            <a:pPr algn="just"/>
            <a:r>
              <a:rPr lang="en-US" dirty="0">
                <a:latin typeface="Times New Roman" panose="02020603050405020304" pitchFamily="18" charset="0"/>
                <a:cs typeface="Times New Roman" panose="02020603050405020304" pitchFamily="18" charset="0"/>
              </a:rPr>
              <a:t>- Handles model training, aggregation, and data preprocessing.</a:t>
            </a:r>
          </a:p>
          <a:p>
            <a:pPr algn="just"/>
            <a:r>
              <a:rPr lang="en-US" dirty="0">
                <a:latin typeface="Times New Roman" panose="02020603050405020304" pitchFamily="18" charset="0"/>
                <a:cs typeface="Times New Roman" panose="02020603050405020304" pitchFamily="18" charset="0"/>
              </a:rPr>
              <a:t>-Used for implementing privacy techniques like DP and secure aggregation</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BACKEND FRAMEWORK AND LIBRARIES</a:t>
            </a:r>
          </a:p>
          <a:p>
            <a:pPr algn="just"/>
            <a:r>
              <a:rPr lang="en-IN" b="1" dirty="0">
                <a:latin typeface="Times New Roman" panose="02020603050405020304" pitchFamily="18" charset="0"/>
                <a:cs typeface="Times New Roman" panose="02020603050405020304" pitchFamily="18" charset="0"/>
              </a:rPr>
              <a:t>Flask Framework-</a:t>
            </a:r>
            <a:r>
              <a:rPr lang="en-US" dirty="0">
                <a:latin typeface="Times New Roman" panose="02020603050405020304" pitchFamily="18" charset="0"/>
                <a:cs typeface="Times New Roman" panose="02020603050405020304" pitchFamily="18" charset="0"/>
              </a:rPr>
              <a:t>Backend server for coordinating FL rounds.</a:t>
            </a:r>
          </a:p>
          <a:p>
            <a:pPr algn="just"/>
            <a:r>
              <a:rPr lang="en-IN" b="1" dirty="0">
                <a:latin typeface="Times New Roman" panose="02020603050405020304" pitchFamily="18" charset="0"/>
                <a:cs typeface="Times New Roman" panose="02020603050405020304" pitchFamily="18" charset="0"/>
              </a:rPr>
              <a:t>Pandas Library</a:t>
            </a:r>
            <a:r>
              <a:rPr lang="en-US" dirty="0">
                <a:latin typeface="Times New Roman" panose="02020603050405020304" pitchFamily="18" charset="0"/>
                <a:cs typeface="Times New Roman" panose="02020603050405020304" pitchFamily="18" charset="0"/>
              </a:rPr>
              <a:t>- Cleans and structures training data on edge devices.</a:t>
            </a:r>
          </a:p>
          <a:p>
            <a:pPr algn="just"/>
            <a:r>
              <a:rPr lang="en-IN" b="1" dirty="0">
                <a:latin typeface="Times New Roman" panose="02020603050405020304" pitchFamily="18" charset="0"/>
                <a:cs typeface="Times New Roman" panose="02020603050405020304" pitchFamily="18" charset="0"/>
              </a:rPr>
              <a:t>PyTorch (Torch)-</a:t>
            </a:r>
            <a:r>
              <a:rPr lang="en-US" dirty="0">
                <a:latin typeface="Times New Roman" panose="02020603050405020304" pitchFamily="18" charset="0"/>
                <a:cs typeface="Times New Roman" panose="02020603050405020304" pitchFamily="18" charset="0"/>
              </a:rPr>
              <a:t>Builds and trains local neural network models.</a:t>
            </a:r>
          </a:p>
          <a:p>
            <a:pPr algn="just"/>
            <a:r>
              <a:rPr lang="en-IN" b="1" dirty="0">
                <a:latin typeface="Times New Roman" panose="02020603050405020304" pitchFamily="18" charset="0"/>
                <a:cs typeface="Times New Roman" panose="02020603050405020304" pitchFamily="18" charset="0"/>
              </a:rPr>
              <a:t>Keras Library</a:t>
            </a:r>
            <a:r>
              <a:rPr lang="en-IN" dirty="0">
                <a:latin typeface="Times New Roman" panose="02020603050405020304" pitchFamily="18" charset="0"/>
                <a:cs typeface="Times New Roman" panose="02020603050405020304" pitchFamily="18" charset="0"/>
              </a:rPr>
              <a:t>-High-level API for fast model prototyping.</a:t>
            </a:r>
          </a:p>
          <a:p>
            <a:pPr algn="just"/>
            <a:r>
              <a:rPr lang="en-IN" b="1" dirty="0">
                <a:latin typeface="Times New Roman" panose="02020603050405020304" pitchFamily="18" charset="0"/>
                <a:cs typeface="Times New Roman" panose="02020603050405020304" pitchFamily="18" charset="0"/>
              </a:rPr>
              <a:t>Scikit-Learn (Sklearn)-</a:t>
            </a:r>
            <a:r>
              <a:rPr lang="en-US" dirty="0">
                <a:latin typeface="Times New Roman" panose="02020603050405020304" pitchFamily="18" charset="0"/>
                <a:cs typeface="Times New Roman" panose="02020603050405020304" pitchFamily="18" charset="0"/>
              </a:rPr>
              <a:t>Provides ML algorithms and evaluation metrics.</a:t>
            </a:r>
          </a:p>
          <a:p>
            <a:pPr algn="just"/>
            <a:r>
              <a:rPr lang="en-IN" b="1" dirty="0">
                <a:latin typeface="Times New Roman" panose="02020603050405020304" pitchFamily="18" charset="0"/>
                <a:cs typeface="Times New Roman" panose="02020603050405020304" pitchFamily="18" charset="0"/>
              </a:rPr>
              <a:t>NumPy</a:t>
            </a:r>
            <a:r>
              <a:rPr lang="en-IN" dirty="0">
                <a:latin typeface="Times New Roman" panose="02020603050405020304" pitchFamily="18" charset="0"/>
                <a:cs typeface="Times New Roman" panose="02020603050405020304" pitchFamily="18" charset="0"/>
              </a:rPr>
              <a:t>-Performs numerical computations.</a:t>
            </a:r>
          </a:p>
          <a:p>
            <a:pPr algn="just"/>
            <a:r>
              <a:rPr lang="en-IN" b="1" dirty="0">
                <a:latin typeface="Times New Roman" panose="02020603050405020304" pitchFamily="18" charset="0"/>
                <a:cs typeface="Times New Roman" panose="02020603050405020304" pitchFamily="18" charset="0"/>
              </a:rPr>
              <a:t>Seaborn</a:t>
            </a:r>
            <a:r>
              <a:rPr lang="en-IN" dirty="0">
                <a:latin typeface="Times New Roman" panose="02020603050405020304" pitchFamily="18" charset="0"/>
                <a:cs typeface="Times New Roman" panose="02020603050405020304" pitchFamily="18" charset="0"/>
              </a:rPr>
              <a:t>-Visualizes FL performance.</a:t>
            </a:r>
          </a:p>
          <a:p>
            <a:endParaRPr lang="en-US"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913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536331" y="35169"/>
            <a:ext cx="8229600" cy="1143000"/>
          </a:xfrm>
          <a:prstGeom prst="rect">
            <a:avLst/>
          </a:prstGeom>
        </p:spPr>
        <p:txBody>
          <a:bodyPr/>
          <a:lstStyle/>
          <a:p>
            <a:pPr algn="ctr">
              <a:spcBef>
                <a:spcPct val="0"/>
              </a:spcBef>
              <a:defRPr/>
            </a:pPr>
            <a:r>
              <a:rPr lang="en-US" sz="4400" u="sng" dirty="0">
                <a:latin typeface="Times New Roman" pitchFamily="18" charset="0"/>
                <a:cs typeface="Times New Roman" pitchFamily="18" charset="0"/>
              </a:rPr>
              <a:t>SYSTEM ARCHITECTURE</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1" u="sng"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pic>
        <p:nvPicPr>
          <p:cNvPr id="5" name="Picture 4" descr="A screenshot of a computer&#10;&#10;AI-generated content may be incorrect.">
            <a:extLst>
              <a:ext uri="{FF2B5EF4-FFF2-40B4-BE49-F238E27FC236}">
                <a16:creationId xmlns:a16="http://schemas.microsoft.com/office/drawing/2014/main" id="{6C95B325-568B-FB18-11D4-015EFE92A0B6}"/>
              </a:ext>
            </a:extLst>
          </p:cNvPr>
          <p:cNvPicPr>
            <a:picLocks noChangeAspect="1"/>
          </p:cNvPicPr>
          <p:nvPr/>
        </p:nvPicPr>
        <p:blipFill>
          <a:blip r:embed="rId2">
            <a:extLst>
              <a:ext uri="{28A0092B-C50C-407E-A947-70E740481C1C}">
                <a14:useLocalDpi xmlns:a14="http://schemas.microsoft.com/office/drawing/2010/main" val="0"/>
              </a:ext>
            </a:extLst>
          </a:blip>
          <a:srcRect b="7692"/>
          <a:stretch>
            <a:fillRect/>
          </a:stretch>
        </p:blipFill>
        <p:spPr>
          <a:xfrm>
            <a:off x="609600" y="990600"/>
            <a:ext cx="7924800" cy="5486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39969" y="18170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u="sng"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CONCLUSION</a:t>
            </a:r>
          </a:p>
        </p:txBody>
      </p:sp>
      <p:graphicFrame>
        <p:nvGraphicFramePr>
          <p:cNvPr id="4" name="Diagram 3">
            <a:extLst>
              <a:ext uri="{FF2B5EF4-FFF2-40B4-BE49-F238E27FC236}">
                <a16:creationId xmlns:a16="http://schemas.microsoft.com/office/drawing/2014/main" id="{07B5810F-3777-2B8D-CD94-15A1C13D5548}"/>
              </a:ext>
            </a:extLst>
          </p:cNvPr>
          <p:cNvGraphicFramePr/>
          <p:nvPr>
            <p:extLst>
              <p:ext uri="{D42A27DB-BD31-4B8C-83A1-F6EECF244321}">
                <p14:modId xmlns:p14="http://schemas.microsoft.com/office/powerpoint/2010/main" val="866476697"/>
              </p:ext>
            </p:extLst>
          </p:nvPr>
        </p:nvGraphicFramePr>
        <p:xfrm>
          <a:off x="304800" y="1324708"/>
          <a:ext cx="8673296" cy="43674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550A83-0A9B-4F71-63DC-8BB392EB2E65}"/>
              </a:ext>
            </a:extLst>
          </p:cNvPr>
          <p:cNvSpPr txBox="1">
            <a:spLocks noGrp="1" noRot="1" noMove="1" noResize="1" noEditPoints="1" noAdjustHandles="1" noChangeArrowheads="1" noChangeShapeType="1"/>
          </p:cNvSpPr>
          <p:nvPr/>
        </p:nvSpPr>
        <p:spPr>
          <a:xfrm>
            <a:off x="2209800" y="2667000"/>
            <a:ext cx="5257800" cy="1107996"/>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r>
              <a:rPr lang="en-US" sz="6600" dirty="0">
                <a:latin typeface="Algerian" panose="04020705040A02060702" pitchFamily="82" charset="0"/>
              </a:rPr>
              <a:t>THANK YOU</a:t>
            </a:r>
            <a:endParaRPr lang="en-IN" sz="6600" dirty="0">
              <a:latin typeface="Algerian" panose="04020705040A02060702" pitchFamily="82" charset="0"/>
            </a:endParaRPr>
          </a:p>
        </p:txBody>
      </p:sp>
    </p:spTree>
    <p:extLst>
      <p:ext uri="{BB962C8B-B14F-4D97-AF65-F5344CB8AC3E}">
        <p14:creationId xmlns:p14="http://schemas.microsoft.com/office/powerpoint/2010/main" val="37638266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TM03457496[[fn=Parallax]]</Template>
  <TotalTime>1486</TotalTime>
  <Words>955</Words>
  <Application>Microsoft Office PowerPoint</Application>
  <PresentationFormat>On-screen Show (4:3)</PresentationFormat>
  <Paragraphs>82</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Algerian</vt:lpstr>
      <vt:lpstr>Aptos</vt:lpstr>
      <vt:lpstr>Arial</vt:lpstr>
      <vt:lpstr>Calibri</vt:lpstr>
      <vt:lpstr>Times New Roman</vt:lpstr>
      <vt:lpstr>Office Theme</vt:lpstr>
      <vt:lpstr>SIDDHARTH INSTITUTE OF ENGINEERING &amp; TECHNOLOGY  (AUTONOMOUS) (Approved by AICTE, New Delhi &amp; Affiliated to JNTUA, Ananthapuramu) (Accredited by NBA for Civil, EEE, Mech., ECE &amp; CSE Accredited by NAAC with ‘A+’ Grade) Puttur -517583,Tirupathi District, A.P. (India) DEPARTMENT OF COMPUTER SCIENCE AND ENGINEERING CSE (ARTIFICIAL INTELLIGENCE) Academic Year 2025-26    </vt:lpstr>
      <vt:lpstr>OBJECTIVE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Project</dc:title>
  <dc:creator>Chandu</dc:creator>
  <cp:lastModifiedBy>MADESH RISHI</cp:lastModifiedBy>
  <cp:revision>35</cp:revision>
  <dcterms:created xsi:type="dcterms:W3CDTF">2006-08-16T00:00:00Z</dcterms:created>
  <dcterms:modified xsi:type="dcterms:W3CDTF">2025-12-10T04:21:02Z</dcterms:modified>
</cp:coreProperties>
</file>